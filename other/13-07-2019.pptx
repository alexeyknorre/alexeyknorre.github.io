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351" r:id="rId3"/>
    <p:sldId id="369" r:id="rId4"/>
    <p:sldId id="367" r:id="rId5"/>
    <p:sldId id="368" r:id="rId6"/>
    <p:sldId id="354" r:id="rId7"/>
    <p:sldId id="355" r:id="rId8"/>
    <p:sldId id="330" r:id="rId9"/>
    <p:sldId id="332" r:id="rId10"/>
    <p:sldId id="333" r:id="rId11"/>
    <p:sldId id="334" r:id="rId12"/>
    <p:sldId id="335" r:id="rId13"/>
    <p:sldId id="336" r:id="rId14"/>
    <p:sldId id="356" r:id="rId15"/>
    <p:sldId id="257" r:id="rId16"/>
    <p:sldId id="359" r:id="rId17"/>
    <p:sldId id="358" r:id="rId18"/>
    <p:sldId id="263" r:id="rId19"/>
    <p:sldId id="360" r:id="rId20"/>
    <p:sldId id="260" r:id="rId21"/>
    <p:sldId id="261" r:id="rId22"/>
    <p:sldId id="276" r:id="rId23"/>
    <p:sldId id="258" r:id="rId24"/>
    <p:sldId id="361" r:id="rId25"/>
    <p:sldId id="270" r:id="rId26"/>
    <p:sldId id="274" r:id="rId27"/>
    <p:sldId id="275" r:id="rId28"/>
    <p:sldId id="362" r:id="rId29"/>
    <p:sldId id="283" r:id="rId30"/>
    <p:sldId id="277" r:id="rId31"/>
    <p:sldId id="284" r:id="rId32"/>
    <p:sldId id="285" r:id="rId33"/>
    <p:sldId id="286" r:id="rId34"/>
    <p:sldId id="287" r:id="rId35"/>
    <p:sldId id="278" r:id="rId36"/>
    <p:sldId id="291" r:id="rId37"/>
    <p:sldId id="363" r:id="rId38"/>
    <p:sldId id="292" r:id="rId39"/>
    <p:sldId id="279" r:id="rId40"/>
    <p:sldId id="267" r:id="rId41"/>
    <p:sldId id="298" r:id="rId42"/>
    <p:sldId id="280" r:id="rId43"/>
    <p:sldId id="364" r:id="rId44"/>
    <p:sldId id="295" r:id="rId45"/>
    <p:sldId id="297" r:id="rId46"/>
    <p:sldId id="299" r:id="rId47"/>
    <p:sldId id="300" r:id="rId48"/>
    <p:sldId id="281" r:id="rId49"/>
    <p:sldId id="365" r:id="rId50"/>
    <p:sldId id="370" r:id="rId51"/>
    <p:sldId id="272" r:id="rId52"/>
    <p:sldId id="338" r:id="rId53"/>
    <p:sldId id="348" r:id="rId54"/>
    <p:sldId id="269" r:id="rId55"/>
    <p:sldId id="290" r:id="rId56"/>
    <p:sldId id="339" r:id="rId57"/>
    <p:sldId id="268" r:id="rId58"/>
    <p:sldId id="345" r:id="rId59"/>
    <p:sldId id="323" r:id="rId60"/>
    <p:sldId id="324" r:id="rId61"/>
    <p:sldId id="327" r:id="rId62"/>
    <p:sldId id="328" r:id="rId63"/>
    <p:sldId id="325" r:id="rId64"/>
    <p:sldId id="326" r:id="rId65"/>
    <p:sldId id="340" r:id="rId66"/>
    <p:sldId id="393" r:id="rId67"/>
    <p:sldId id="342" r:id="rId68"/>
    <p:sldId id="344" r:id="rId69"/>
    <p:sldId id="353" r:id="rId70"/>
    <p:sldId id="343" r:id="rId71"/>
    <p:sldId id="282" r:id="rId72"/>
    <p:sldId id="350" r:id="rId73"/>
    <p:sldId id="296" r:id="rId74"/>
    <p:sldId id="315" r:id="rId75"/>
    <p:sldId id="388" r:id="rId76"/>
    <p:sldId id="347" r:id="rId77"/>
    <p:sldId id="366" r:id="rId78"/>
    <p:sldId id="352" r:id="rId7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25D7A-5525-41F1-912F-8228019DD00E}" type="datetimeFigureOut">
              <a:rPr lang="ru-RU" smtClean="0"/>
              <a:t>13.07.2019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2F2C8-CA6C-4420-A194-2EF113D9E0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74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063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470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974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7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281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A2F2C8-CA6C-4420-A194-2EF113D9E0DA}" type="slidenum">
              <a:rPr lang="ru-RU" smtClean="0"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7651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9900" cy="383698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02A9A-FF98-4849-BB83-AADC8A09AC65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486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526C-1DC2-4A99-8C5A-2D423E30324D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754EE-7467-4A5C-91E7-F4650463B1B3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75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998F3-84D6-4733-926F-7FA437849368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184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AC48E-276B-439E-9A19-71F724B31766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818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9BB19-172C-4E9B-8C02-6AE7848EAC8D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638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557DA-7662-467F-A241-B93687357759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6589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061-522C-486E-83A0-71B30CC5B85C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10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A9C24-956F-40D9-BD7D-B4EABE88AA92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20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A17FC-FEFE-4472-8417-6959829D2F89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552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1F41-9EFC-46E2-AEB0-304B9D2B4AC6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72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4599C-A921-4D8D-AFE4-D54F85B8CE30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57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E0178-C311-4A53-9A1D-43FDD2CA3225}" type="datetime1">
              <a:rPr lang="ru-RU" smtClean="0"/>
              <a:t>13.07.2019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www.alexeyknorre.ru/pres/13-07-2019.pdf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58019-6BD2-4BE8-9FEE-C8EBA7F7666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50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enforce.spb.ru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tatsoft.org/index.php/jss/article/view/v059i10/v59i10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enforce.spb.ru/images/analit_zapiski/FSKN_MVD_memo_2015_web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enforce.spb.ru/images/analit_zapiski/FSKN_MVD_memo_2015_web.p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enforce.spb.ru/images/infographics/IRL_judiciary_of_Russian_Federation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r.ru/wp-content/uploads/2017/12/Doklad_pristavy_0712.pdf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course/129" TargetMode="External"/><Relationship Id="rId2" Type="http://schemas.openxmlformats.org/officeDocument/2006/relationships/hyperlink" Target="https://stepik.org/course/76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enforce.spb.ru/images/foto/Crimestat_memo_2015_IRL_KGI_color.pdf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verse.harvard.edu/dataset.xhtml?persistentId=doi:10.7910/DVN/C2OTH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19432"/>
            <a:ext cx="9144000" cy="2573216"/>
          </a:xfrm>
        </p:spPr>
        <p:txBody>
          <a:bodyPr>
            <a:normAutofit/>
          </a:bodyPr>
          <a:lstStyle/>
          <a:p>
            <a:r>
              <a:rPr lang="ru-RU" dirty="0"/>
              <a:t>Источники данных </a:t>
            </a:r>
            <a:br>
              <a:rPr lang="ru-RU" dirty="0"/>
            </a:br>
            <a:r>
              <a:rPr lang="ru-RU" dirty="0"/>
              <a:t>для исследований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3821098"/>
            <a:ext cx="12192000" cy="2315601"/>
          </a:xfrm>
        </p:spPr>
        <p:txBody>
          <a:bodyPr>
            <a:normAutofit fontScale="85000" lnSpcReduction="20000"/>
          </a:bodyPr>
          <a:lstStyle/>
          <a:p>
            <a:r>
              <a:rPr lang="ru-RU" sz="3600" dirty="0"/>
              <a:t>Алексей </a:t>
            </a:r>
            <a:r>
              <a:rPr lang="ru-RU" sz="3600" dirty="0" err="1"/>
              <a:t>Кнорре</a:t>
            </a:r>
            <a:r>
              <a:rPr lang="ru-RU" sz="3600" dirty="0"/>
              <a:t>,</a:t>
            </a:r>
          </a:p>
          <a:p>
            <a:r>
              <a:rPr lang="ru-RU" sz="3600" dirty="0"/>
              <a:t>научный сотрудник,</a:t>
            </a:r>
          </a:p>
          <a:p>
            <a:r>
              <a:rPr lang="ru-RU" sz="3600" dirty="0"/>
              <a:t>Институт проблем правоприменения при ЕУСПб</a:t>
            </a:r>
            <a:br>
              <a:rPr lang="ru-RU" sz="3600" dirty="0"/>
            </a:br>
            <a:endParaRPr lang="ru-RU" sz="3600" dirty="0"/>
          </a:p>
          <a:p>
            <a:r>
              <a:rPr lang="ru-RU" sz="3600" dirty="0"/>
              <a:t>13 июля 2019</a:t>
            </a:r>
          </a:p>
        </p:txBody>
      </p:sp>
      <p:pic>
        <p:nvPicPr>
          <p:cNvPr id="4" name="Picture 4" descr="logo_r">
            <a:extLst>
              <a:ext uri="{FF2B5EF4-FFF2-40B4-BE49-F238E27FC236}">
                <a16:creationId xmlns:a16="http://schemas.microsoft.com/office/drawing/2014/main" id="{71255108-BE26-41E8-B527-97350F9D2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82"/>
            <a:ext cx="2892182" cy="87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D7B96F3-2864-40E5-8382-793357974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989" y="13482"/>
            <a:ext cx="3416011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A63346-48A0-414C-8E80-AACD0CA3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1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76A874-EEB7-419C-A56F-7FCF824043FA}"/>
              </a:ext>
            </a:extLst>
          </p:cNvPr>
          <p:cNvSpPr/>
          <p:nvPr/>
        </p:nvSpPr>
        <p:spPr>
          <a:xfrm>
            <a:off x="0" y="623572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70C0"/>
                </a:solidFill>
              </a:rPr>
              <a:t>www.alexeyknorre.ru/other/13-07-2019.pdf</a:t>
            </a:r>
            <a:endParaRPr lang="ru-RU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599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4699" y="2119843"/>
            <a:ext cx="63883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5 млн решений по уголовным делам</a:t>
            </a:r>
            <a:r>
              <a:rPr lang="en-US" b="1" dirty="0"/>
              <a:t> </a:t>
            </a:r>
            <a:r>
              <a:rPr lang="ru-RU" dirty="0"/>
              <a:t> – генеральная совокупность всех подсудимых за 2009-2013 годы</a:t>
            </a:r>
            <a:endParaRPr lang="en-US" dirty="0"/>
          </a:p>
          <a:p>
            <a:r>
              <a:rPr lang="ru-RU" b="1" dirty="0"/>
              <a:t>5,35 млн статистических карточек на преступления</a:t>
            </a:r>
            <a:r>
              <a:rPr lang="en-US" dirty="0"/>
              <a:t> – </a:t>
            </a:r>
            <a:r>
              <a:rPr lang="ru-RU" dirty="0"/>
              <a:t>все преступления, зарегистрированные в России в 2013-2014 гг.</a:t>
            </a:r>
            <a:endParaRPr lang="en-US" dirty="0"/>
          </a:p>
          <a:p>
            <a:r>
              <a:rPr lang="en-US" b="1" dirty="0"/>
              <a:t>8 </a:t>
            </a:r>
            <a:r>
              <a:rPr lang="ru-RU" b="1" dirty="0"/>
              <a:t>млн обращений в полицию</a:t>
            </a:r>
            <a:r>
              <a:rPr lang="en-US" dirty="0"/>
              <a:t> –</a:t>
            </a:r>
            <a:r>
              <a:rPr lang="ru-RU" dirty="0"/>
              <a:t> все зарегистрированные контакты с полицией в 6 регионах РФ за</a:t>
            </a:r>
            <a:r>
              <a:rPr lang="en-US" dirty="0"/>
              <a:t> 2013-2014</a:t>
            </a:r>
            <a:r>
              <a:rPr lang="ru-RU" dirty="0"/>
              <a:t> гг.</a:t>
            </a:r>
            <a:endParaRPr lang="en-US" dirty="0"/>
          </a:p>
          <a:p>
            <a:endParaRPr lang="en-US" dirty="0"/>
          </a:p>
          <a:p>
            <a:r>
              <a:rPr lang="ru-RU" b="1" dirty="0"/>
              <a:t>Данные арбитражных решений</a:t>
            </a:r>
            <a:r>
              <a:rPr lang="ru-RU" dirty="0"/>
              <a:t> – случайная выборка из 10 тысяч решений, 51 переменная</a:t>
            </a:r>
            <a:endParaRPr lang="en-US" dirty="0"/>
          </a:p>
          <a:p>
            <a:r>
              <a:rPr lang="ru-RU" b="1" dirty="0"/>
              <a:t>Опросы</a:t>
            </a:r>
            <a:r>
              <a:rPr lang="en-US" dirty="0"/>
              <a:t> </a:t>
            </a:r>
            <a:r>
              <a:rPr lang="ru-RU" dirty="0"/>
              <a:t>судей (</a:t>
            </a:r>
            <a:r>
              <a:rPr lang="en-US" dirty="0"/>
              <a:t>N &gt;</a:t>
            </a:r>
            <a:r>
              <a:rPr lang="ru-RU" dirty="0"/>
              <a:t> 2500 ), следователей (600), адвокатов  (2350)</a:t>
            </a:r>
            <a:r>
              <a:rPr lang="en-US" dirty="0"/>
              <a:t>, </a:t>
            </a:r>
            <a:r>
              <a:rPr lang="ru-RU" dirty="0" err="1"/>
              <a:t>виктимизационный</a:t>
            </a:r>
            <a:r>
              <a:rPr lang="ru-RU" dirty="0"/>
              <a:t> опрос</a:t>
            </a:r>
            <a:r>
              <a:rPr lang="en-US" dirty="0"/>
              <a:t> (3000+13000)</a:t>
            </a:r>
          </a:p>
          <a:p>
            <a:r>
              <a:rPr lang="ru-RU" b="1" dirty="0"/>
              <a:t>Экспертные интервью </a:t>
            </a:r>
            <a:r>
              <a:rPr lang="ru-RU" dirty="0"/>
              <a:t>с судьями, следователями, прокурорами, полицейскими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&gt; 400</a:t>
            </a:r>
            <a:r>
              <a:rPr lang="ru-RU" dirty="0"/>
              <a:t> </a:t>
            </a:r>
            <a:r>
              <a:rPr lang="ru-RU" dirty="0" err="1"/>
              <a:t>транскриптов</a:t>
            </a:r>
            <a:r>
              <a:rPr lang="ru-RU" dirty="0"/>
              <a:t>)</a:t>
            </a:r>
          </a:p>
          <a:p>
            <a:r>
              <a:rPr lang="ru-RU" b="1" dirty="0"/>
              <a:t>Включённое наблюдение </a:t>
            </a:r>
            <a:r>
              <a:rPr lang="ru-RU" dirty="0"/>
              <a:t>в судах и отделениях полиции</a:t>
            </a:r>
            <a:endParaRPr lang="ru-R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44699" y="170995"/>
            <a:ext cx="6851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Институт проблем </a:t>
            </a:r>
            <a:r>
              <a:rPr lang="ru-RU" sz="3200" b="1" dirty="0" err="1"/>
              <a:t>правоприменения</a:t>
            </a:r>
            <a:endParaRPr lang="en-US" dirty="0"/>
          </a:p>
          <a:p>
            <a:r>
              <a:rPr lang="ru-RU" sz="2200" dirty="0"/>
              <a:t>при Европейском Университете в Санкт-Петербурге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4699" y="1104180"/>
            <a:ext cx="63883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/>
              <a:t>Основан в 2009 году для исследований в области эмпирико-правовых исследований, социологии права, и разработки практических рекомендаций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23" y="6090161"/>
            <a:ext cx="4855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linkClick r:id="rId2"/>
              </a:rPr>
              <a:t>www.enforce.spb.ru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240" y="0"/>
            <a:ext cx="4778760" cy="6858001"/>
          </a:xfrm>
          <a:prstGeom prst="rect">
            <a:avLst/>
          </a:prstGeom>
        </p:spPr>
      </p:pic>
      <p:pic>
        <p:nvPicPr>
          <p:cNvPr id="1026" name="Picture 2" descr="ÐÐ°ÑÑÐ¸Ð½ÐºÐ¸ Ð¿Ð¾ Ð·Ð°Ð¿ÑÐ¾ÑÑ Ð¸Ð½ÑÑÐ¸ÑÑÑ Ð¿ÑÐ¾Ð±Ð»ÐµÐ¼ Ð¿ÑÐ°Ð²Ð¾Ð¿ÑÐ¸Ð¼ÐµÐ½ÐµÐ½Ð¸Ñ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815" y="6090161"/>
            <a:ext cx="2411836" cy="78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69D0EE-3061-458F-9665-838FAB9A5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4608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214B6-A6FB-4682-9B4E-DAB96EAD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395115" cy="672147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9D7819-F6E9-431F-A821-900DB54B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935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5913ED-8225-4843-872D-E999C8F5E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4</a:t>
            </a:fld>
            <a:endParaRPr lang="ru-RU" dirty="0"/>
          </a:p>
        </p:txBody>
      </p:sp>
      <p:pic>
        <p:nvPicPr>
          <p:cNvPr id="2050" name="Picture 2" descr="https://pp.userapi.com/c844724/v844724476/24f14/XvVMaZSqjfM.jpg">
            <a:extLst>
              <a:ext uri="{FF2B5EF4-FFF2-40B4-BE49-F238E27FC236}">
                <a16:creationId xmlns:a16="http://schemas.microsoft.com/office/drawing/2014/main" id="{5240F177-09CE-4FB2-B724-8F957F06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061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602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DCCC1B4-BA5E-401D-A5CD-FAF2A3C5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</a:t>
            </a:fld>
            <a:endParaRPr lang="ru-RU" dirty="0"/>
          </a:p>
        </p:txBody>
      </p:sp>
      <p:pic>
        <p:nvPicPr>
          <p:cNvPr id="3074" name="Picture 2" descr="https://pp.userapi.com/c844724/v844724476/24f1c/dhTXW3r6uMo.jpg">
            <a:extLst>
              <a:ext uri="{FF2B5EF4-FFF2-40B4-BE49-F238E27FC236}">
                <a16:creationId xmlns:a16="http://schemas.microsoft.com/office/drawing/2014/main" id="{48927ADC-7256-4418-9B7E-2A7D96FC7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292" y="9939"/>
            <a:ext cx="7599415" cy="687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53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99761-3CF5-4BCF-8D67-A81E373A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663D06-0347-4B20-89A1-9B05D87F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</a:t>
            </a:fld>
            <a:endParaRPr lang="ru-RU" dirty="0"/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97EB0E39-93A1-4EA9-B0E3-254074D01D5B}"/>
              </a:ext>
            </a:extLst>
          </p:cNvPr>
          <p:cNvSpPr txBox="1">
            <a:spLocks/>
          </p:cNvSpPr>
          <p:nvPr/>
        </p:nvSpPr>
        <p:spPr>
          <a:xfrm>
            <a:off x="1600200" y="1509712"/>
            <a:ext cx="8534400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buAutoNum type="arabicPeriod"/>
            </a:pPr>
            <a:r>
              <a:rPr lang="ru-RU" sz="5400" dirty="0"/>
              <a:t>Зачем нужны данные?</a:t>
            </a:r>
          </a:p>
          <a:p>
            <a:pPr marL="914400" lvl="1" indent="-457200">
              <a:buAutoNum type="arabicPeriod"/>
            </a:pPr>
            <a:r>
              <a:rPr lang="ru-RU" sz="5400" dirty="0"/>
              <a:t>Что делать с данными?</a:t>
            </a:r>
          </a:p>
          <a:p>
            <a:pPr marL="914400" lvl="1" indent="-457200">
              <a:buAutoNum type="arabicPeriod"/>
            </a:pPr>
            <a:r>
              <a:rPr lang="ru-RU" sz="5400" dirty="0"/>
              <a:t>Какие бывают данные?</a:t>
            </a:r>
          </a:p>
          <a:p>
            <a:pPr marL="914400" lvl="1" indent="-457200">
              <a:buAutoNum type="arabicPeriod"/>
            </a:pPr>
            <a:r>
              <a:rPr lang="ru-RU" sz="5400" dirty="0"/>
              <a:t>Задачки для групп </a:t>
            </a:r>
            <a:r>
              <a:rPr lang="ru-RU" sz="5400" dirty="0">
                <a:sym typeface="Wingdings" panose="05000000000000000000" pitchFamily="2" charset="2"/>
              </a:rPr>
              <a:t></a:t>
            </a:r>
            <a:endParaRPr lang="ru-RU" sz="6000" dirty="0"/>
          </a:p>
          <a:p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66492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BCF2F-A5DD-4D92-B4B7-F356DAEB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6405"/>
          </a:xfrm>
        </p:spPr>
        <p:txBody>
          <a:bodyPr/>
          <a:lstStyle/>
          <a:p>
            <a:pPr algn="ctr"/>
            <a:r>
              <a:rPr lang="ru-RU" dirty="0"/>
              <a:t>1. Зачем нужны данные?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5DC87D9-6A1B-4226-A48A-CB39646E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7688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Эмпирическое </a:t>
            </a:r>
            <a:r>
              <a:rPr lang="en-US" dirty="0"/>
              <a:t>vs. </a:t>
            </a:r>
            <a:r>
              <a:rPr lang="ru-RU" dirty="0"/>
              <a:t>нормативное исследование</a:t>
            </a:r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Эмпирическое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Что на самом деле?</a:t>
            </a:r>
          </a:p>
          <a:p>
            <a:r>
              <a:rPr lang="ru-RU" dirty="0"/>
              <a:t> Что происходит (в мире, в реальности, в организме </a:t>
            </a:r>
            <a:r>
              <a:rPr lang="en-US" dirty="0" err="1"/>
              <a:t>etc</a:t>
            </a:r>
            <a:r>
              <a:rPr lang="ru-RU" dirty="0"/>
              <a:t>)?</a:t>
            </a:r>
          </a:p>
          <a:p>
            <a:r>
              <a:rPr lang="ru-RU" dirty="0"/>
              <a:t>Какие существуют закономерности существования, развития, и т.д.? </a:t>
            </a:r>
          </a:p>
          <a:p>
            <a:r>
              <a:rPr lang="ru-RU" dirty="0"/>
              <a:t>Всегда вероятностное и относительное</a:t>
            </a:r>
            <a:endParaRPr lang="en-US" dirty="0"/>
          </a:p>
          <a:p>
            <a:r>
              <a:rPr lang="ru-RU" dirty="0"/>
              <a:t>Комплексность теоретических и эмпирических объяснений (относительная непротиворечивость разных концепций)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Нормативное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Что должно быть? </a:t>
            </a:r>
          </a:p>
          <a:p>
            <a:r>
              <a:rPr lang="ru-RU" dirty="0"/>
              <a:t>Как связаны между собой отдельные формы долженствования? </a:t>
            </a:r>
          </a:p>
          <a:p>
            <a:r>
              <a:rPr lang="ru-RU" dirty="0"/>
              <a:t>Как наблюдаемая ситуация соотносится с должной? </a:t>
            </a:r>
          </a:p>
          <a:p>
            <a:r>
              <a:rPr lang="ru-RU" dirty="0"/>
              <a:t>Всегда конечное и окончательное</a:t>
            </a:r>
          </a:p>
          <a:p>
            <a:r>
              <a:rPr lang="ru-RU" dirty="0"/>
              <a:t>Склонность к </a:t>
            </a:r>
            <a:r>
              <a:rPr lang="ru-RU" dirty="0" err="1"/>
              <a:t>однотеоретическому</a:t>
            </a:r>
            <a:r>
              <a:rPr lang="ru-RU" dirty="0"/>
              <a:t> (</a:t>
            </a:r>
            <a:r>
              <a:rPr lang="ru-RU" dirty="0" err="1"/>
              <a:t>моноконцептуальному</a:t>
            </a:r>
            <a:r>
              <a:rPr lang="ru-RU" dirty="0"/>
              <a:t>) объяснению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50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905000" y="260349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 эмпирического исследования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1600200" y="1509712"/>
            <a:ext cx="8534400" cy="50292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Вопросы описательного (фактографического) типа (есть/нет, сколько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ru-RU" dirty="0"/>
              <a:t>) – измеряемое/описываемое задано заранее или очевидно</a:t>
            </a:r>
            <a:endParaRPr lang="en-US" dirty="0"/>
          </a:p>
          <a:p>
            <a:pPr lvl="1"/>
            <a:r>
              <a:rPr lang="ru-RU" dirty="0"/>
              <a:t>Каков средний возраст судьи? </a:t>
            </a:r>
          </a:p>
          <a:p>
            <a:pPr lvl="1"/>
            <a:r>
              <a:rPr lang="ru-RU" dirty="0"/>
              <a:t>Какова реальная нагрузка судьи?</a:t>
            </a:r>
          </a:p>
          <a:p>
            <a:pPr lvl="1"/>
            <a:r>
              <a:rPr lang="ru-RU" dirty="0"/>
              <a:t>Какова доля бывших адвокатов среди судей?</a:t>
            </a:r>
            <a:endParaRPr lang="en-US" dirty="0"/>
          </a:p>
          <a:p>
            <a:r>
              <a:rPr lang="ru-RU" dirty="0"/>
              <a:t>Вопросы-гипотезы (</a:t>
            </a:r>
            <a:r>
              <a:rPr lang="en-US" dirty="0"/>
              <a:t>a</a:t>
            </a:r>
            <a:r>
              <a:rPr lang="ru-RU" dirty="0"/>
              <a:t> связано с </a:t>
            </a:r>
            <a:r>
              <a:rPr lang="en-US" dirty="0"/>
              <a:t>b</a:t>
            </a:r>
            <a:r>
              <a:rPr lang="ru-RU" dirty="0"/>
              <a:t>, влияет на, </a:t>
            </a:r>
            <a:r>
              <a:rPr lang="en-US" dirty="0"/>
              <a:t>etc.) – </a:t>
            </a:r>
            <a:r>
              <a:rPr lang="ru-RU" dirty="0"/>
              <a:t>необходима </a:t>
            </a:r>
            <a:r>
              <a:rPr lang="ru-RU" dirty="0" err="1"/>
              <a:t>операционализация</a:t>
            </a:r>
            <a:r>
              <a:rPr lang="ru-RU" dirty="0"/>
              <a:t> </a:t>
            </a:r>
            <a:r>
              <a:rPr lang="en-US" dirty="0"/>
              <a:t>a </a:t>
            </a:r>
            <a:r>
              <a:rPr lang="ru-RU" dirty="0"/>
              <a:t>и </a:t>
            </a:r>
            <a:r>
              <a:rPr lang="en-US" dirty="0"/>
              <a:t>b</a:t>
            </a:r>
            <a:r>
              <a:rPr lang="ru-RU" dirty="0"/>
              <a:t>. </a:t>
            </a:r>
          </a:p>
          <a:p>
            <a:pPr lvl="1"/>
            <a:r>
              <a:rPr lang="ru-RU" dirty="0"/>
              <a:t>Одинакова ли нагрузка председателей и рядовых судей? </a:t>
            </a:r>
          </a:p>
          <a:p>
            <a:pPr lvl="1"/>
            <a:r>
              <a:rPr lang="ru-RU" dirty="0"/>
              <a:t>Влияет ли опыт судей на их специализацию?</a:t>
            </a:r>
          </a:p>
          <a:p>
            <a:r>
              <a:rPr lang="ru-RU" dirty="0"/>
              <a:t>Вопросы-классификации, комплексные вопросы </a:t>
            </a:r>
          </a:p>
          <a:p>
            <a:pPr lvl="1"/>
            <a:r>
              <a:rPr lang="ru-RU" dirty="0"/>
              <a:t>На какие группы распадается судейское сообщество с точки зрения ценностей?</a:t>
            </a:r>
          </a:p>
          <a:p>
            <a:pPr lvl="1"/>
            <a:r>
              <a:rPr lang="ru-RU" dirty="0"/>
              <a:t>Какие факторы влияют на отношение судей к необходимому стажу судьи? </a:t>
            </a:r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040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Откуда берутся вопросы и гипотезы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 здравого смысла / экспертизы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Как много работают судьи?</a:t>
            </a:r>
          </a:p>
          <a:p>
            <a:r>
              <a:rPr lang="ru-RU" dirty="0"/>
              <a:t>Как профессиональный опыт влияет на специализацию?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Из теории / литературы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Каковы ценности судей?</a:t>
            </a:r>
          </a:p>
          <a:p>
            <a:r>
              <a:rPr lang="ru-RU" dirty="0"/>
              <a:t>Различаются ли ценности судей с разным профессиональным опытом? </a:t>
            </a:r>
          </a:p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62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Arial" charset="0"/>
              </a:rPr>
              <a:t>Гипотезы </a:t>
            </a:r>
            <a:r>
              <a:rPr lang="en-US" dirty="0">
                <a:latin typeface="Arial" charset="0"/>
              </a:rPr>
              <a:t>vs. </a:t>
            </a:r>
            <a:r>
              <a:rPr lang="ru-RU" dirty="0">
                <a:latin typeface="Arial" charset="0"/>
              </a:rPr>
              <a:t>вопросы </a:t>
            </a:r>
            <a:endParaRPr lang="ru-RU" dirty="0"/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Гипотезы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Чаще предполагают связь между двумя характеристиками или достижение одной некоторого критического значения</a:t>
            </a:r>
          </a:p>
          <a:p>
            <a:r>
              <a:rPr lang="ru-RU" dirty="0"/>
              <a:t>Чаще проверяются количественными методами</a:t>
            </a:r>
          </a:p>
          <a:p>
            <a:r>
              <a:rPr lang="ru-RU" dirty="0"/>
              <a:t>Чаще используются в относительно «знакомом» поле</a:t>
            </a:r>
          </a:p>
          <a:p>
            <a:r>
              <a:rPr lang="ru-RU" dirty="0"/>
              <a:t>Предполагают готовые </a:t>
            </a:r>
            <a:r>
              <a:rPr lang="ru-RU" dirty="0" err="1"/>
              <a:t>операционализации</a:t>
            </a:r>
            <a:endParaRPr lang="ru-RU" dirty="0"/>
          </a:p>
          <a:p>
            <a:pPr lvl="1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Чаще касаются более «свободных» тем (как, зачем, почему, что заставляет)</a:t>
            </a:r>
          </a:p>
          <a:p>
            <a:r>
              <a:rPr lang="ru-RU" dirty="0"/>
              <a:t>Ответ чаще ищется качественными методами </a:t>
            </a:r>
          </a:p>
          <a:p>
            <a:r>
              <a:rPr lang="ru-RU" dirty="0"/>
              <a:t>Могут ставиться в практически незнакомом поле (но потом эволюционируют)</a:t>
            </a:r>
          </a:p>
          <a:p>
            <a:r>
              <a:rPr lang="ru-RU" dirty="0"/>
              <a:t>Могут задаваться без готовых </a:t>
            </a:r>
            <a:r>
              <a:rPr lang="ru-RU" dirty="0" err="1"/>
              <a:t>операционализаций</a:t>
            </a:r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8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Качественные </a:t>
            </a:r>
            <a:r>
              <a:rPr lang="en-US" dirty="0"/>
              <a:t>vs. </a:t>
            </a:r>
            <a:r>
              <a:rPr lang="ru-RU" dirty="0"/>
              <a:t>количественные методы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Качественные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Интервью, наблюдение, анализ документов</a:t>
            </a:r>
          </a:p>
          <a:p>
            <a:r>
              <a:rPr lang="ru-RU" dirty="0"/>
              <a:t>Не дают возможности для количественных оценок </a:t>
            </a:r>
          </a:p>
          <a:p>
            <a:r>
              <a:rPr lang="ru-RU" dirty="0"/>
              <a:t>Позволяют отвечать на «сложные» вопросы (как, почему, зачем, как понимать)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Количественные</a:t>
            </a:r>
          </a:p>
        </p:txBody>
      </p:sp>
      <p:sp>
        <p:nvSpPr>
          <p:cNvPr id="10" name="Объект 9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Опрос, анализ статистики, анализ баз данных  (государственных, собранных самостоятельно и т.п.)</a:t>
            </a:r>
          </a:p>
          <a:p>
            <a:r>
              <a:rPr lang="ru-RU" dirty="0"/>
              <a:t>Предназначены строго для количественных оценок</a:t>
            </a:r>
          </a:p>
          <a:p>
            <a:r>
              <a:rPr lang="ru-RU" dirty="0"/>
              <a:t>Всегда ограничены риском «незнания контекста»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56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441578" y="208987"/>
            <a:ext cx="8938727" cy="1676400"/>
          </a:xfrm>
        </p:spPr>
        <p:txBody>
          <a:bodyPr>
            <a:normAutofit/>
          </a:bodyPr>
          <a:lstStyle/>
          <a:p>
            <a:r>
              <a:rPr lang="ru-RU" dirty="0"/>
              <a:t>Большие исследования обычно комплексные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1082350" y="2067950"/>
            <a:ext cx="9657184" cy="4470962"/>
          </a:xfrm>
        </p:spPr>
        <p:txBody>
          <a:bodyPr>
            <a:normAutofit/>
          </a:bodyPr>
          <a:lstStyle/>
          <a:p>
            <a:r>
              <a:rPr lang="ru-RU" dirty="0"/>
              <a:t>Вначале: качественное описание (в нашем случае несколько десятков интервью + форумы + литература + документы)</a:t>
            </a:r>
          </a:p>
          <a:p>
            <a:r>
              <a:rPr lang="ru-RU" dirty="0"/>
              <a:t>Затем: опрос 750 анкет в 6 регионах, анкеты составлены одновременно с опорой на теорию профессиональной группы и на экспертное/ повседневное / качественное знание</a:t>
            </a:r>
          </a:p>
          <a:p>
            <a:r>
              <a:rPr lang="ru-RU" dirty="0"/>
              <a:t>В конце: качественные данные для интерпретации (интервью, эксперты, фокус-группы, литература, документы)</a:t>
            </a:r>
          </a:p>
          <a:p>
            <a:pPr lvl="1"/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74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BCF2F-A5DD-4D92-B4B7-F356DAEB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6405"/>
          </a:xfrm>
        </p:spPr>
        <p:txBody>
          <a:bodyPr/>
          <a:lstStyle/>
          <a:p>
            <a:pPr algn="ctr"/>
            <a:r>
              <a:rPr lang="ru-RU" dirty="0"/>
              <a:t>2. Что делать с данными?</a:t>
            </a:r>
            <a:br>
              <a:rPr lang="ru-RU" dirty="0"/>
            </a:br>
            <a:r>
              <a:rPr lang="ru-RU" dirty="0"/>
              <a:t>(или Начальные приёмы рукопашной борьбы с данными)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5DC87D9-6A1B-4226-A48A-CB39646E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5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64926" y="1682621"/>
            <a:ext cx="8898544" cy="4579031"/>
          </a:xfrm>
        </p:spPr>
        <p:txBody>
          <a:bodyPr>
            <a:normAutofit/>
          </a:bodyPr>
          <a:lstStyle/>
          <a:p>
            <a:pPr marL="385763" indent="-385763">
              <a:buAutoNum type="arabicPeriod"/>
            </a:pPr>
            <a:r>
              <a:rPr lang="ru-RU" dirty="0"/>
              <a:t>Как выглядят данные?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5D5113F-EF6E-4072-BFFF-83E3DB4406B7}"/>
              </a:ext>
            </a:extLst>
          </p:cNvPr>
          <p:cNvSpPr/>
          <p:nvPr/>
        </p:nvSpPr>
        <p:spPr>
          <a:xfrm>
            <a:off x="1507580" y="481255"/>
            <a:ext cx="91768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dirty="0"/>
              <a:t>Что делать с данными?</a:t>
            </a:r>
          </a:p>
        </p:txBody>
      </p:sp>
    </p:spTree>
    <p:extLst>
      <p:ext uri="{BB962C8B-B14F-4D97-AF65-F5344CB8AC3E}">
        <p14:creationId xmlns:p14="http://schemas.microsoft.com/office/powerpoint/2010/main" val="2389802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и программы для анализа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большинстве случаев – «плоские» таблицы</a:t>
            </a:r>
          </a:p>
          <a:p>
            <a:r>
              <a:rPr lang="ru-RU" dirty="0"/>
              <a:t>Чистые данные (</a:t>
            </a:r>
            <a:r>
              <a:rPr lang="en-US" dirty="0"/>
              <a:t>tidy data):</a:t>
            </a:r>
          </a:p>
          <a:p>
            <a:pPr lvl="1"/>
            <a:r>
              <a:rPr lang="ru-RU" dirty="0"/>
              <a:t>Каждая переменная формирует столбец;</a:t>
            </a:r>
          </a:p>
          <a:p>
            <a:pPr lvl="1"/>
            <a:r>
              <a:rPr lang="ru-RU" dirty="0"/>
              <a:t>Каждое наблюдение формирует строку;</a:t>
            </a:r>
          </a:p>
          <a:p>
            <a:pPr lvl="1"/>
            <a:r>
              <a:rPr lang="ru-RU" dirty="0"/>
              <a:t>Каждый тип единицы наблюдения формирует таблицу.</a:t>
            </a:r>
            <a:endParaRPr lang="en-US" dirty="0"/>
          </a:p>
          <a:p>
            <a:pPr marL="342900" lvl="1" indent="0">
              <a:buNone/>
            </a:pPr>
            <a:r>
              <a:rPr lang="en-US" sz="1500" dirty="0"/>
              <a:t>(Wickham, Hadley. "</a:t>
            </a:r>
            <a:r>
              <a:rPr lang="en-US" sz="1500" dirty="0">
                <a:hlinkClick r:id="rId2"/>
              </a:rPr>
              <a:t>Tidy data.</a:t>
            </a:r>
            <a:r>
              <a:rPr lang="en-US" sz="1500" dirty="0"/>
              <a:t>" </a:t>
            </a:r>
            <a:r>
              <a:rPr lang="en-US" sz="1500" i="1" dirty="0"/>
              <a:t>Journal of Statistical Software</a:t>
            </a:r>
            <a:r>
              <a:rPr lang="en-US" sz="1500" dirty="0"/>
              <a:t> 59.10 (2014): 1-23.)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54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7B68B-DC36-431D-946B-51DF0CBFA2CD}" type="slidenum">
              <a:rPr lang="ru-RU" smtClean="0"/>
              <a:t>17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82" y="-2528"/>
            <a:ext cx="11489635" cy="68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33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1" y="47002"/>
            <a:ext cx="5769978" cy="323198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31" y="4849986"/>
            <a:ext cx="6426611" cy="186886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112" y="3230107"/>
            <a:ext cx="7236668" cy="12321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9306" y="1895261"/>
            <a:ext cx="1503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Таблица 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4175" y="3566898"/>
            <a:ext cx="1490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Таблица 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6531" y="4774192"/>
            <a:ext cx="1492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Таблица В</a:t>
            </a:r>
          </a:p>
        </p:txBody>
      </p:sp>
    </p:spTree>
    <p:extLst>
      <p:ext uri="{BB962C8B-B14F-4D97-AF65-F5344CB8AC3E}">
        <p14:creationId xmlns:p14="http://schemas.microsoft.com/office/powerpoint/2010/main" val="2681116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9" y="1551753"/>
            <a:ext cx="11910842" cy="4789412"/>
          </a:xfrm>
          <a:prstGeom prst="rect">
            <a:avLst/>
          </a:prstGeom>
        </p:spPr>
      </p:pic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2152650" y="136528"/>
            <a:ext cx="7886700" cy="946838"/>
          </a:xfrm>
        </p:spPr>
        <p:txBody>
          <a:bodyPr/>
          <a:lstStyle/>
          <a:p>
            <a:r>
              <a:rPr lang="ru-RU" dirty="0"/>
              <a:t>Пример грязных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85542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596348"/>
            <a:ext cx="12185920" cy="527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43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8600"/>
            <a:ext cx="1212186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95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7372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ru-RU" dirty="0"/>
              <a:t>. Описательные статистики: среднее и медиана</a:t>
            </a:r>
          </a:p>
        </p:txBody>
      </p:sp>
    </p:spTree>
    <p:extLst>
      <p:ext uri="{BB962C8B-B14F-4D97-AF65-F5344CB8AC3E}">
        <p14:creationId xmlns:p14="http://schemas.microsoft.com/office/powerpoint/2010/main" val="3463941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 «копеечных дел»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2650" y="2163651"/>
            <a:ext cx="7886700" cy="28373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«По примерной оценке, дела по заявлениям пенсионного фонда на суммы до 1000 рублей поглощают порядка 8 % от общего бюджета арбитражной системы – более 1 миллиарда 400 миллионов рублей в год. При этом совокупный доход государства от разрешения этих споров чуть больше 130 миллионов рублей в год. Чистые потери, таким образом, превышают (только для арбитражной системы) 1 270 миллионов рублей в год. По 9 рублей на каждого россиянина ежегодно».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67025" y="5180821"/>
            <a:ext cx="7172324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50" dirty="0"/>
              <a:t>Ущерб от «копеечных дел», инициируемых государством в арбитражном суде (Серия «Аналитические записки по проблемам </a:t>
            </a:r>
            <a:r>
              <a:rPr lang="ru-RU" sz="1350" dirty="0" err="1"/>
              <a:t>правоприменения</a:t>
            </a:r>
            <a:r>
              <a:rPr lang="ru-RU" sz="1350" dirty="0"/>
              <a:t>», Февраль 2010) Авторский коллектив: Волков В.В., </a:t>
            </a:r>
            <a:r>
              <a:rPr lang="ru-RU" sz="1350" dirty="0" err="1"/>
              <a:t>Панеях</a:t>
            </a:r>
            <a:r>
              <a:rPr lang="ru-RU" sz="1350" dirty="0"/>
              <a:t> Э.Л., Титаев К.Д. СПб: ИПП ЕУ.</a:t>
            </a:r>
          </a:p>
          <a:p>
            <a:r>
              <a:rPr lang="ru-RU" sz="1350" dirty="0"/>
              <a:t>СПб, 2010. - 16 стр.</a:t>
            </a:r>
          </a:p>
          <a:p>
            <a:r>
              <a:rPr lang="en-US" sz="1350" dirty="0"/>
              <a:t>URL: http://www.enforce.spb.ru/images/analit_zapiski/arbitr_poicy_memo_8th_draft_site1.pdf</a:t>
            </a:r>
            <a:endParaRPr lang="ru-RU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152651" y="1408890"/>
            <a:ext cx="78866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Средний размер исковой суммы: 386 р. 80 коп.</a:t>
            </a:r>
          </a:p>
        </p:txBody>
      </p:sp>
    </p:spTree>
    <p:extLst>
      <p:ext uri="{BB962C8B-B14F-4D97-AF65-F5344CB8AC3E}">
        <p14:creationId xmlns:p14="http://schemas.microsoft.com/office/powerpoint/2010/main" val="2874504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ÐÐ°ÑÑÐ¸Ð½ÐºÐ¸ Ð¿Ð¾ Ð·Ð°Ð¿ÑÐ¾ÑÑ mean vs medi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728779"/>
            <a:ext cx="9053679" cy="547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420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51362" y="635583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 2013-2014 годах ФСКН и МВД изымали в среднем одинаковые партии наркотиков по массе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577887" y="2249052"/>
          <a:ext cx="4810553" cy="32548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55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387">
                <a:tc>
                  <a:txBody>
                    <a:bodyPr/>
                    <a:lstStyle/>
                    <a:p>
                      <a:pPr algn="l" fontAlgn="b"/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2100" b="1" u="none" strike="noStrike" dirty="0">
                          <a:effectLst/>
                        </a:rPr>
                        <a:t>Медиана, в граммах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23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b="1" u="none" strike="noStrike" dirty="0">
                          <a:effectLst/>
                        </a:rPr>
                        <a:t>Наркотик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b="1" u="none" strike="noStrike" dirty="0">
                          <a:effectLst/>
                        </a:rPr>
                        <a:t>МВД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b="1" u="none" strike="noStrike" dirty="0">
                          <a:effectLst/>
                        </a:rPr>
                        <a:t>ФСКН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23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u="none" strike="noStrike" dirty="0">
                          <a:effectLst/>
                        </a:rPr>
                        <a:t>Конопля и производные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20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39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387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u="none" strike="noStrike" dirty="0">
                          <a:effectLst/>
                        </a:rPr>
                        <a:t>Героин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1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2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387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u="none" strike="noStrike" dirty="0" err="1">
                          <a:effectLst/>
                        </a:rPr>
                        <a:t>Амфетамины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1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1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387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u="none" strike="noStrike" dirty="0">
                          <a:effectLst/>
                        </a:rPr>
                        <a:t>«</a:t>
                      </a:r>
                      <a:r>
                        <a:rPr lang="ru-RU" sz="2100" u="none" strike="noStrike" dirty="0" err="1">
                          <a:effectLst/>
                        </a:rPr>
                        <a:t>Спайсы</a:t>
                      </a:r>
                      <a:r>
                        <a:rPr lang="ru-RU" sz="2100" u="none" strike="noStrike" dirty="0">
                          <a:effectLst/>
                        </a:rPr>
                        <a:t>»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1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2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387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u="none" strike="noStrike" dirty="0">
                          <a:effectLst/>
                        </a:rPr>
                        <a:t>Опиаты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1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u="none" strike="noStrike" dirty="0">
                          <a:effectLst/>
                        </a:rPr>
                        <a:t>2</a:t>
                      </a:r>
                      <a:endParaRPr lang="ru-R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387">
                <a:tc>
                  <a:txBody>
                    <a:bodyPr/>
                    <a:lstStyle/>
                    <a:p>
                      <a:pPr algn="l" fontAlgn="b"/>
                      <a:r>
                        <a:rPr lang="ru-RU" sz="2100" b="1" u="none" strike="noStrike" dirty="0">
                          <a:effectLst/>
                        </a:rPr>
                        <a:t>По</a:t>
                      </a:r>
                      <a:r>
                        <a:rPr lang="ru-RU" sz="2100" b="1" u="none" strike="noStrike" baseline="0" dirty="0">
                          <a:effectLst/>
                        </a:rPr>
                        <a:t> всем наркотикам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b="1" u="none" strike="noStrike" dirty="0">
                          <a:effectLst/>
                        </a:rPr>
                        <a:t>1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2100" b="1" u="none" strike="noStrike" dirty="0">
                          <a:effectLst/>
                        </a:rPr>
                        <a:t>2</a:t>
                      </a:r>
                      <a:endParaRPr lang="ru-RU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144" marR="7144" marT="7144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096011" y="5791762"/>
            <a:ext cx="81974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111111"/>
                </a:solidFill>
              </a:rPr>
              <a:t>Кнорре</a:t>
            </a:r>
            <a:r>
              <a:rPr lang="ru-RU" dirty="0">
                <a:solidFill>
                  <a:srgbClr val="111111"/>
                </a:solidFill>
              </a:rPr>
              <a:t> А., </a:t>
            </a:r>
            <a:r>
              <a:rPr lang="ru-RU" dirty="0" err="1">
                <a:solidFill>
                  <a:srgbClr val="111111"/>
                </a:solidFill>
              </a:rPr>
              <a:t>Скугаревский</a:t>
            </a:r>
            <a:r>
              <a:rPr lang="ru-RU" dirty="0">
                <a:solidFill>
                  <a:srgbClr val="111111"/>
                </a:solidFill>
              </a:rPr>
              <a:t> Д. (под ред. М. </a:t>
            </a:r>
            <a:r>
              <a:rPr lang="ru-RU" dirty="0" err="1">
                <a:solidFill>
                  <a:srgbClr val="111111"/>
                </a:solidFill>
              </a:rPr>
              <a:t>Шклярук</a:t>
            </a:r>
            <a:r>
              <a:rPr lang="ru-RU" dirty="0">
                <a:solidFill>
                  <a:srgbClr val="111111"/>
                </a:solidFill>
              </a:rPr>
              <a:t>). Как МВД и ФСКН борются с наркотиками: сравнительный анализ результативности двух ведомств: аналитическая записка. </a:t>
            </a:r>
            <a:r>
              <a:rPr lang="ru-RU" dirty="0">
                <a:solidFill>
                  <a:srgbClr val="0077CC"/>
                </a:solidFill>
                <a:hlinkClick r:id="rId2"/>
              </a:rPr>
              <a:t>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226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548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916178" y="473291"/>
          <a:ext cx="8404089" cy="4458189"/>
        </p:xfrm>
        <a:graphic>
          <a:graphicData uri="http://schemas.openxmlformats.org/drawingml/2006/table">
            <a:tbl>
              <a:tblPr/>
              <a:tblGrid>
                <a:gridCol w="209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0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13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83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758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Главный изъятый наркотик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ФСКН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МВД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Другие ведомства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Всего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82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Частота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Частота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Частота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Частота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Героин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64 887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31 201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96 380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Амфетамины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34 350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18 199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52 834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Синтетические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каннабиноиды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31 915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17 672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49 861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Натуральные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каннабиноиды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30 027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14 862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45 122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Опиаты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10 317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4 548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14 938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Мак и его производные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3 753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2 506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6 276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Дезоморфин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3 752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1 178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4 932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Анаболические стероиды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1 699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1 796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МДМА (экстази)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Сибутрамин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Кокаин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1 085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Другие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10 613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74,3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3 563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14 284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823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Всего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191 311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65,9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97 570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1 340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290 221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096011" y="5791762"/>
            <a:ext cx="81974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111111"/>
                </a:solidFill>
              </a:rPr>
              <a:t>Кнорре</a:t>
            </a:r>
            <a:r>
              <a:rPr lang="ru-RU" dirty="0">
                <a:solidFill>
                  <a:srgbClr val="111111"/>
                </a:solidFill>
              </a:rPr>
              <a:t> А., </a:t>
            </a:r>
            <a:r>
              <a:rPr lang="ru-RU" dirty="0" err="1">
                <a:solidFill>
                  <a:srgbClr val="111111"/>
                </a:solidFill>
              </a:rPr>
              <a:t>Скугаревский</a:t>
            </a:r>
            <a:r>
              <a:rPr lang="ru-RU" dirty="0">
                <a:solidFill>
                  <a:srgbClr val="111111"/>
                </a:solidFill>
              </a:rPr>
              <a:t> Д. (под ред. М. </a:t>
            </a:r>
            <a:r>
              <a:rPr lang="ru-RU" dirty="0" err="1">
                <a:solidFill>
                  <a:srgbClr val="111111"/>
                </a:solidFill>
              </a:rPr>
              <a:t>Шклярук</a:t>
            </a:r>
            <a:r>
              <a:rPr lang="ru-RU" dirty="0">
                <a:solidFill>
                  <a:srgbClr val="111111"/>
                </a:solidFill>
              </a:rPr>
              <a:t>). Как МВД и ФСКН борются с наркотиками: сравнительный анализ результативности двух ведомств: аналитическая записка. </a:t>
            </a:r>
            <a:r>
              <a:rPr lang="ru-RU" dirty="0">
                <a:solidFill>
                  <a:srgbClr val="0077CC"/>
                </a:solidFill>
                <a:hlinkClick r:id="rId2"/>
              </a:rPr>
              <a:t>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5801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10" y="358194"/>
            <a:ext cx="8707863" cy="436495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47941" y="5307916"/>
            <a:ext cx="81974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Источники пополнения судейского корпуса РФ и роль аппарата судов (Серия «Аналитические записки по</a:t>
            </a:r>
            <a:r>
              <a:rPr lang="en-US" dirty="0"/>
              <a:t> </a:t>
            </a:r>
            <a:r>
              <a:rPr lang="ru-RU" dirty="0"/>
              <a:t>проблемам </a:t>
            </a:r>
            <a:r>
              <a:rPr lang="ru-RU" dirty="0" err="1"/>
              <a:t>правоприменения</a:t>
            </a:r>
            <a:r>
              <a:rPr lang="ru-RU" dirty="0"/>
              <a:t>»). Арина Дмитриева, Денис Савельев. СПб: ИПП ЕУСПб, 2018.  </a:t>
            </a:r>
            <a:r>
              <a:rPr lang="en-US" dirty="0">
                <a:hlinkClick r:id="rId3"/>
              </a:rPr>
              <a:t>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9180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Таблицы сопряженности / </a:t>
            </a:r>
            <a:r>
              <a:rPr lang="ru-RU" dirty="0" err="1">
                <a:solidFill>
                  <a:srgbClr val="FF0000"/>
                </a:solidFill>
              </a:rPr>
              <a:t>кросстабы</a:t>
            </a:r>
            <a:endParaRPr lang="ru-RU" dirty="0">
              <a:solidFill>
                <a:srgbClr val="FF0000"/>
              </a:solidFill>
            </a:endParaRPr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666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08" y="90334"/>
            <a:ext cx="7618055" cy="676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05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08" y="90334"/>
            <a:ext cx="7618055" cy="6767667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3739168" y="286645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295365" y="286645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774289" y="286645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53213" y="286645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657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08" y="90334"/>
            <a:ext cx="7618055" cy="6767667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4280081" y="338161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5836278" y="338161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315202" y="338161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794126" y="338161"/>
            <a:ext cx="579549" cy="63750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282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08" y="90334"/>
            <a:ext cx="7618055" cy="6767667"/>
          </a:xfrm>
          <a:prstGeom prst="rect">
            <a:avLst/>
          </a:prstGeom>
        </p:spPr>
      </p:pic>
      <p:sp>
        <p:nvSpPr>
          <p:cNvPr id="2" name="Скругленный прямоугольник 1"/>
          <p:cNvSpPr/>
          <p:nvPr/>
        </p:nvSpPr>
        <p:spPr>
          <a:xfrm>
            <a:off x="4795236" y="772732"/>
            <a:ext cx="463638" cy="437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49291" y="772732"/>
            <a:ext cx="467926" cy="437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7804601" y="772732"/>
            <a:ext cx="377776" cy="437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9309286" y="772732"/>
            <a:ext cx="467926" cy="43788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549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816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31" y="323247"/>
            <a:ext cx="8094172" cy="605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57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797"/>
            <a:ext cx="11915859" cy="524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84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7655" cy="546652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385872" y="6005541"/>
            <a:ext cx="6484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http://www.tylervigen.com/spurious-correlations</a:t>
            </a:r>
          </a:p>
        </p:txBody>
      </p:sp>
    </p:spTree>
    <p:extLst>
      <p:ext uri="{BB962C8B-B14F-4D97-AF65-F5344CB8AC3E}">
        <p14:creationId xmlns:p14="http://schemas.microsoft.com/office/powerpoint/2010/main" val="1294513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74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451" y="179546"/>
            <a:ext cx="7556025" cy="6678455"/>
          </a:xfrm>
        </p:spPr>
      </p:pic>
    </p:spTree>
    <p:extLst>
      <p:ext uri="{BB962C8B-B14F-4D97-AF65-F5344CB8AC3E}">
        <p14:creationId xmlns:p14="http://schemas.microsoft.com/office/powerpoint/2010/main" val="265231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76" y="157431"/>
            <a:ext cx="7953375" cy="56673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32336" y="5934670"/>
            <a:ext cx="78017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Vadim </a:t>
            </a:r>
            <a:r>
              <a:rPr lang="en-US" dirty="0" err="1"/>
              <a:t>Volkov</a:t>
            </a:r>
            <a:r>
              <a:rPr lang="en-US" dirty="0"/>
              <a:t>. Legal and Extralegal Origins of Sentencing Disparities: Evidence from Russia’s Criminal Courts //</a:t>
            </a:r>
            <a:r>
              <a:rPr lang="ru-RU" dirty="0"/>
              <a:t> </a:t>
            </a:r>
            <a:r>
              <a:rPr lang="en-US" dirty="0"/>
              <a:t>Journal of Empirical Legal Studies» (Volume 13, Issue 4, 637-665, December 2016).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0894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/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3978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p.userapi.com/c846217/v846217321/33495/v32-YM5IIpY.jpg">
            <a:extLst>
              <a:ext uri="{FF2B5EF4-FFF2-40B4-BE49-F238E27FC236}">
                <a16:creationId xmlns:a16="http://schemas.microsoft.com/office/drawing/2014/main" id="{502449B4-8DD1-4B91-A628-AD2AD2744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060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962E839-7874-4894-8923-C2D3F53B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006" y="-187387"/>
            <a:ext cx="5013463" cy="863248"/>
          </a:xfrm>
        </p:spPr>
        <p:txBody>
          <a:bodyPr>
            <a:normAutofit/>
          </a:bodyPr>
          <a:lstStyle/>
          <a:p>
            <a:r>
              <a:rPr lang="ru-RU" sz="4000" i="1" dirty="0"/>
              <a:t>Диаграмма рассеяния</a:t>
            </a:r>
          </a:p>
        </p:txBody>
      </p:sp>
    </p:spTree>
    <p:extLst>
      <p:ext uri="{BB962C8B-B14F-4D97-AF65-F5344CB8AC3E}">
        <p14:creationId xmlns:p14="http://schemas.microsoft.com/office/powerpoint/2010/main" val="990597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1181522" cy="6708913"/>
          </a:xfrm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248650" y="0"/>
            <a:ext cx="7886700" cy="909882"/>
          </a:xfrm>
        </p:spPr>
        <p:txBody>
          <a:bodyPr/>
          <a:lstStyle/>
          <a:p>
            <a:r>
              <a:rPr lang="ru-RU" dirty="0"/>
              <a:t>Гистограмма</a:t>
            </a:r>
          </a:p>
        </p:txBody>
      </p:sp>
    </p:spTree>
    <p:extLst>
      <p:ext uri="{BB962C8B-B14F-4D97-AF65-F5344CB8AC3E}">
        <p14:creationId xmlns:p14="http://schemas.microsoft.com/office/powerpoint/2010/main" val="2151112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831" y="1"/>
            <a:ext cx="7801519" cy="6167487"/>
          </a:xfrm>
        </p:spPr>
      </p:pic>
      <p:sp>
        <p:nvSpPr>
          <p:cNvPr id="7" name="Прямоугольник 6"/>
          <p:cNvSpPr/>
          <p:nvPr/>
        </p:nvSpPr>
        <p:spPr>
          <a:xfrm>
            <a:off x="2084830" y="6235801"/>
            <a:ext cx="77198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</a:t>
            </a:r>
            <a:r>
              <a:rPr lang="ru-RU" sz="1200" dirty="0" err="1"/>
              <a:t>atron</a:t>
            </a:r>
            <a:r>
              <a:rPr lang="ru-RU" sz="1200" dirty="0"/>
              <a:t> </a:t>
            </a:r>
            <a:r>
              <a:rPr lang="ru-RU" sz="1200" dirty="0" err="1"/>
              <a:t>Peter</a:t>
            </a:r>
            <a:r>
              <a:rPr lang="ru-RU" sz="1200" dirty="0"/>
              <a:t>. </a:t>
            </a:r>
            <a:r>
              <a:rPr lang="ru-RU" sz="1200" dirty="0" err="1"/>
              <a:t>Made</a:t>
            </a:r>
            <a:r>
              <a:rPr lang="ru-RU" sz="1200" dirty="0"/>
              <a:t> </a:t>
            </a:r>
            <a:r>
              <a:rPr lang="ru-RU" sz="1200" dirty="0" err="1"/>
              <a:t>in</a:t>
            </a:r>
            <a:r>
              <a:rPr lang="ru-RU" sz="1200" dirty="0"/>
              <a:t> </a:t>
            </a:r>
            <a:r>
              <a:rPr lang="ru-RU" sz="1200" dirty="0" err="1"/>
              <a:t>America</a:t>
            </a:r>
            <a:r>
              <a:rPr lang="ru-RU" sz="1200" dirty="0"/>
              <a:t>? </a:t>
            </a:r>
            <a:r>
              <a:rPr lang="ru-RU" sz="1200" dirty="0" err="1"/>
              <a:t>Immigrant</a:t>
            </a:r>
            <a:r>
              <a:rPr lang="ru-RU" sz="1200" dirty="0"/>
              <a:t> </a:t>
            </a:r>
            <a:r>
              <a:rPr lang="ru-RU" sz="1200" dirty="0" err="1"/>
              <a:t>Occupational</a:t>
            </a:r>
            <a:r>
              <a:rPr lang="ru-RU" sz="1200" dirty="0"/>
              <a:t> </a:t>
            </a:r>
            <a:r>
              <a:rPr lang="ru-RU" sz="1200" dirty="0" err="1"/>
              <a:t>Mobility</a:t>
            </a:r>
            <a:r>
              <a:rPr lang="ru-RU" sz="1200" dirty="0"/>
              <a:t> </a:t>
            </a:r>
            <a:r>
              <a:rPr lang="ru-RU" sz="1200" dirty="0" err="1"/>
              <a:t>in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First</a:t>
            </a:r>
            <a:r>
              <a:rPr lang="ru-RU" sz="1200" dirty="0"/>
              <a:t> </a:t>
            </a:r>
            <a:r>
              <a:rPr lang="ru-RU" sz="1200" dirty="0" err="1"/>
              <a:t>Half</a:t>
            </a:r>
            <a:r>
              <a:rPr lang="ru-RU" sz="1200" dirty="0"/>
              <a:t> </a:t>
            </a:r>
            <a:r>
              <a:rPr lang="ru-RU" sz="1200" dirty="0" err="1"/>
              <a:t>of</a:t>
            </a:r>
            <a:r>
              <a:rPr lang="ru-RU" sz="1200" dirty="0"/>
              <a:t> </a:t>
            </a:r>
            <a:r>
              <a:rPr lang="ru-RU" sz="1200" dirty="0" err="1"/>
              <a:t>the</a:t>
            </a:r>
            <a:r>
              <a:rPr lang="ru-RU" sz="1200" dirty="0"/>
              <a:t> </a:t>
            </a:r>
            <a:r>
              <a:rPr lang="ru-RU" sz="1200" dirty="0" err="1"/>
              <a:t>Twentieth</a:t>
            </a:r>
            <a:r>
              <a:rPr lang="ru-RU" sz="1200" dirty="0"/>
              <a:t> </a:t>
            </a:r>
            <a:r>
              <a:rPr lang="ru-RU" sz="1200" dirty="0" err="1"/>
              <a:t>Century</a:t>
            </a:r>
            <a:r>
              <a:rPr lang="ru-RU" sz="1200" dirty="0"/>
              <a:t>. </a:t>
            </a:r>
            <a:r>
              <a:rPr lang="ru-RU" sz="1200" i="1" dirty="0" err="1"/>
              <a:t>American</a:t>
            </a:r>
            <a:r>
              <a:rPr lang="ru-RU" sz="1200" i="1" dirty="0"/>
              <a:t> </a:t>
            </a:r>
            <a:r>
              <a:rPr lang="ru-RU" sz="1200" i="1" dirty="0" err="1"/>
              <a:t>Journal</a:t>
            </a:r>
            <a:r>
              <a:rPr lang="ru-RU" sz="1200" i="1" dirty="0"/>
              <a:t> </a:t>
            </a:r>
            <a:r>
              <a:rPr lang="ru-RU" sz="1200" i="1" dirty="0" err="1"/>
              <a:t>of</a:t>
            </a:r>
            <a:r>
              <a:rPr lang="ru-RU" sz="1200" i="1" dirty="0"/>
              <a:t> </a:t>
            </a:r>
            <a:r>
              <a:rPr lang="ru-RU" sz="1200" i="1" dirty="0" err="1"/>
              <a:t>Sociology</a:t>
            </a:r>
            <a:r>
              <a:rPr lang="ru-RU" sz="1200" dirty="0"/>
              <a:t>, </a:t>
            </a:r>
            <a:r>
              <a:rPr lang="ru-RU" sz="1200" dirty="0" err="1"/>
              <a:t>Volume</a:t>
            </a:r>
            <a:r>
              <a:rPr lang="ru-RU" sz="1200" dirty="0"/>
              <a:t> 122, </a:t>
            </a:r>
            <a:r>
              <a:rPr lang="ru-RU" sz="1200" dirty="0" err="1"/>
              <a:t>Number</a:t>
            </a:r>
            <a:r>
              <a:rPr lang="ru-RU" sz="1200" dirty="0"/>
              <a:t> 2 (</a:t>
            </a:r>
            <a:r>
              <a:rPr lang="ru-RU" sz="1200" dirty="0" err="1"/>
              <a:t>September</a:t>
            </a:r>
            <a:r>
              <a:rPr lang="ru-RU" sz="1200" dirty="0"/>
              <a:t> 2016), p. 342.</a:t>
            </a:r>
          </a:p>
        </p:txBody>
      </p:sp>
    </p:spTree>
    <p:extLst>
      <p:ext uri="{BB962C8B-B14F-4D97-AF65-F5344CB8AC3E}">
        <p14:creationId xmlns:p14="http://schemas.microsoft.com/office/powerpoint/2010/main" val="2520135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77589" y="459722"/>
            <a:ext cx="7886700" cy="91439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Столбиковая</a:t>
            </a:r>
            <a:br>
              <a:rPr lang="ru-RU" dirty="0"/>
            </a:br>
            <a:r>
              <a:rPr lang="ru-RU" dirty="0"/>
              <a:t>диаграмма</a:t>
            </a:r>
          </a:p>
        </p:txBody>
      </p:sp>
      <p:pic>
        <p:nvPicPr>
          <p:cNvPr id="8194" name="Picture 2" descr="https://upload.wikimedia.org/wikipedia/commons/3/35/Human_losses_of_world_war_two_by_count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58" y="97400"/>
            <a:ext cx="6727390" cy="666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613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93" y="0"/>
            <a:ext cx="9788853" cy="574404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003738" y="5744045"/>
            <a:ext cx="79844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Тимур Бочаров, Катерина Губа, Алексей </a:t>
            </a:r>
            <a:r>
              <a:rPr lang="ru-RU" dirty="0" err="1"/>
              <a:t>Кнорре</a:t>
            </a:r>
            <a:r>
              <a:rPr lang="ru-RU" dirty="0"/>
              <a:t>. Исполнение судебных решений и организация работы судебных приставов. Аналитический отчёт. </a:t>
            </a:r>
            <a:r>
              <a:rPr lang="en-US" dirty="0">
                <a:hlinkClick r:id="rId3"/>
              </a:rPr>
              <a:t>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869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14013" y="957064"/>
            <a:ext cx="7886700" cy="3773057"/>
          </a:xfrm>
        </p:spPr>
        <p:txBody>
          <a:bodyPr>
            <a:normAutofit lnSpcReduction="10000"/>
          </a:bodyPr>
          <a:lstStyle/>
          <a:p>
            <a:pPr marL="385763" indent="-385763">
              <a:buAutoNum type="arabicPeriod"/>
            </a:pPr>
            <a:r>
              <a:rPr lang="ru-RU" dirty="0"/>
              <a:t>Данные и программы для анализа</a:t>
            </a:r>
          </a:p>
          <a:p>
            <a:pPr marL="385763" indent="-385763">
              <a:buAutoNum type="arabicPeriod"/>
            </a:pPr>
            <a:r>
              <a:rPr lang="ru-RU" dirty="0"/>
              <a:t>Описательные статистики: среднее, медиана</a:t>
            </a:r>
          </a:p>
          <a:p>
            <a:pPr marL="385763" indent="-385763">
              <a:buAutoNum type="arabicPeriod"/>
            </a:pPr>
            <a:r>
              <a:rPr lang="ru-RU" dirty="0"/>
              <a:t>Частотные таблицы</a:t>
            </a:r>
          </a:p>
          <a:p>
            <a:pPr marL="385763" indent="-385763">
              <a:buAutoNum type="arabicPeriod"/>
            </a:pPr>
            <a:r>
              <a:rPr lang="ru-RU" dirty="0"/>
              <a:t>Таблицы сопряженности / </a:t>
            </a:r>
            <a:r>
              <a:rPr lang="ru-RU" dirty="0" err="1"/>
              <a:t>кросстабы</a:t>
            </a:r>
            <a:endParaRPr lang="ru-RU" dirty="0"/>
          </a:p>
          <a:p>
            <a:pPr marL="385763" indent="-385763">
              <a:buAutoNum type="arabicPeriod"/>
            </a:pPr>
            <a:r>
              <a:rPr lang="ru-RU" dirty="0"/>
              <a:t>Корреляции</a:t>
            </a:r>
          </a:p>
          <a:p>
            <a:pPr marL="385763" indent="-385763">
              <a:buAutoNum type="arabicPeriod"/>
            </a:pPr>
            <a:r>
              <a:rPr lang="ru-RU" dirty="0"/>
              <a:t>Регрессионный анализ</a:t>
            </a:r>
          </a:p>
          <a:p>
            <a:pPr marL="385763" indent="-385763">
              <a:buAutoNum type="arabicPeriod"/>
            </a:pPr>
            <a:r>
              <a:rPr lang="ru-RU" dirty="0"/>
              <a:t>Визуализация данных</a:t>
            </a:r>
          </a:p>
          <a:p>
            <a:pPr marL="385763" indent="-385763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Где узнать больше?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5495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узнать больше?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Статистика и котики, Владимир Савельев</a:t>
            </a:r>
          </a:p>
          <a:p>
            <a:pPr marL="0" indent="0">
              <a:buNone/>
            </a:pPr>
            <a:r>
              <a:rPr lang="en-US" dirty="0"/>
              <a:t>https://www.litres.ru/vladimir-savelev-10569666/statistika-i-kotiki-28731109/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Онлайн-курс на русском языке про основы статистики: </a:t>
            </a:r>
            <a:r>
              <a:rPr lang="en-US" dirty="0">
                <a:hlinkClick r:id="rId2"/>
              </a:rPr>
              <a:t>https://stepik.org/course/76/</a:t>
            </a:r>
            <a:endParaRPr lang="ru-RU" dirty="0"/>
          </a:p>
          <a:p>
            <a:r>
              <a:rPr lang="ru-RU" dirty="0"/>
              <a:t>… и про анализ данных в </a:t>
            </a:r>
            <a:r>
              <a:rPr lang="en-US" dirty="0"/>
              <a:t>R: </a:t>
            </a:r>
            <a:r>
              <a:rPr lang="en-US" dirty="0">
                <a:hlinkClick r:id="rId3"/>
              </a:rPr>
              <a:t>https://stepik.org/course/129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62276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2D240E-5315-4152-A608-7FC74020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50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61F8E61-1FB8-41E0-B415-6C5742C8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6405"/>
          </a:xfrm>
        </p:spPr>
        <p:txBody>
          <a:bodyPr/>
          <a:lstStyle/>
          <a:p>
            <a:pPr algn="ctr"/>
            <a:r>
              <a:rPr lang="ru-RU" dirty="0"/>
              <a:t>3. Какие бывают данные?</a:t>
            </a:r>
          </a:p>
        </p:txBody>
      </p:sp>
    </p:spTree>
    <p:extLst>
      <p:ext uri="{BB962C8B-B14F-4D97-AF65-F5344CB8AC3E}">
        <p14:creationId xmlns:p14="http://schemas.microsoft.com/office/powerpoint/2010/main" val="1339311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Интервью</a:t>
            </a:r>
          </a:p>
          <a:p>
            <a:r>
              <a:rPr lang="ru-RU" dirty="0">
                <a:solidFill>
                  <a:srgbClr val="FF0000"/>
                </a:solidFill>
              </a:rPr>
              <a:t>Наблюдение (антропологическое)</a:t>
            </a:r>
          </a:p>
          <a:p>
            <a:r>
              <a:rPr lang="ru-RU" dirty="0">
                <a:solidFill>
                  <a:srgbClr val="FF0000"/>
                </a:solidFill>
              </a:rPr>
              <a:t>Опросы </a:t>
            </a:r>
          </a:p>
          <a:p>
            <a:r>
              <a:rPr lang="ru-RU" dirty="0">
                <a:solidFill>
                  <a:srgbClr val="FF0000"/>
                </a:solidFill>
              </a:rPr>
              <a:t>Административные данные </a:t>
            </a:r>
          </a:p>
          <a:p>
            <a:r>
              <a:rPr lang="ru-RU" dirty="0">
                <a:solidFill>
                  <a:srgbClr val="FF0000"/>
                </a:solidFill>
              </a:rPr>
              <a:t>Тексты как данные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BDACD9-3248-4488-8246-870FC8C3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4349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4CE73-4AD0-44A8-B591-E042C03A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Интервью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21638-AE49-400D-B625-42E71D3B9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ru-RU" dirty="0"/>
              <a:t>Глубинное интервью (неформальное интервью, </a:t>
            </a:r>
            <a:r>
              <a:rPr lang="ru-RU" dirty="0" err="1"/>
              <a:t>полустандартизированное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Экспертное интервью</a:t>
            </a:r>
          </a:p>
          <a:p>
            <a:pPr lvl="1"/>
            <a:r>
              <a:rPr lang="ru-RU" dirty="0"/>
              <a:t>Фокус-группа</a:t>
            </a:r>
          </a:p>
          <a:p>
            <a:endParaRPr lang="ru-RU" dirty="0"/>
          </a:p>
          <a:p>
            <a:r>
              <a:rPr lang="ru-RU" dirty="0"/>
              <a:t>Данные: аудиозаписи и транскрипты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1649F1-CB8E-46FA-8FBE-E9D0CE11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57349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95416" y="0"/>
            <a:ext cx="10958384" cy="1066800"/>
          </a:xfrm>
        </p:spPr>
        <p:txBody>
          <a:bodyPr>
            <a:normAutofit/>
          </a:bodyPr>
          <a:lstStyle/>
          <a:p>
            <a:r>
              <a:rPr lang="ru-RU" dirty="0"/>
              <a:t>Пример </a:t>
            </a:r>
            <a:r>
              <a:rPr lang="ru-RU" dirty="0" err="1"/>
              <a:t>транскрипта</a:t>
            </a:r>
            <a:r>
              <a:rPr lang="ru-RU" dirty="0"/>
              <a:t> интервью с судьёй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823784" y="1066800"/>
            <a:ext cx="9539416" cy="551523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В: да, да, вот. </a:t>
            </a:r>
            <a:r>
              <a:rPr lang="ru-RU" dirty="0" err="1"/>
              <a:t>Аа</a:t>
            </a:r>
            <a:r>
              <a:rPr lang="ru-RU" dirty="0"/>
              <a:t>, а когда вы выбираете между разными видами наказания не связанными с лишением свободы там лишение свобод- с реальным лишением свободы там условно, штраф, исправительные обязательные</a:t>
            </a:r>
          </a:p>
          <a:p>
            <a:r>
              <a:rPr lang="ru-RU" dirty="0"/>
              <a:t>О: да вот </a:t>
            </a:r>
            <a:r>
              <a:rPr lang="ru-RU" dirty="0" err="1"/>
              <a:t>чт</a:t>
            </a:r>
            <a:r>
              <a:rPr lang="ru-RU" dirty="0"/>
              <a:t>- помню хорошо одно дело вот для примера назначила штраф он су- вот судим зараза, хороший чело-, трое детей, его жена характеризует настолько, дети его боготворят просто он для семьи вот всё, а он </a:t>
            </a:r>
            <a:r>
              <a:rPr lang="ru-RU" dirty="0" err="1"/>
              <a:t>он</a:t>
            </a:r>
            <a:r>
              <a:rPr lang="ru-RU" dirty="0"/>
              <a:t> вор патологический </a:t>
            </a:r>
            <a:r>
              <a:rPr lang="ru-RU" dirty="0" err="1"/>
              <a:t>ээ</a:t>
            </a:r>
            <a:r>
              <a:rPr lang="ru-RU" dirty="0"/>
              <a:t> причем не то что клептомания да, а вот нужно детей вот ему у него украл сколько-то досок где-то там ну украл для кого-то говорит ты мне за- заплатишь, деньги забрал, пошел в магазин, купил киндер яйца вот эти шоколадные детям, что-то еще, принес детям, да порадовать детей. Назначала штраф ему чтобы не </a:t>
            </a:r>
            <a:r>
              <a:rPr lang="ru-RU" dirty="0" err="1"/>
              <a:t>не</a:t>
            </a:r>
            <a:r>
              <a:rPr lang="ru-RU" dirty="0"/>
              <a:t> лишение свободы, и там 40 тысяч, меньше у меня там не получалось уже как бы хотя ему меньше назначила. </a:t>
            </a:r>
          </a:p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0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Наблюдение</a:t>
            </a:r>
            <a:endParaRPr lang="be-BY" dirty="0">
              <a:solidFill>
                <a:srgbClr val="FF0000"/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Роль: участник или посторонний</a:t>
            </a:r>
          </a:p>
          <a:p>
            <a:r>
              <a:rPr lang="ru-RU" dirty="0"/>
              <a:t>Видимость: явное или скрытое наблюдение </a:t>
            </a:r>
          </a:p>
          <a:p>
            <a:r>
              <a:rPr lang="ru-RU" dirty="0"/>
              <a:t>Продолжительность: этнографическое (полгода и более), социологическое </a:t>
            </a:r>
            <a:endParaRPr lang="en-US" dirty="0"/>
          </a:p>
          <a:p>
            <a:r>
              <a:rPr lang="ru-RU" dirty="0"/>
              <a:t>Фиксация результатов (вербальная и невербальная коммуникация, план наблюдения) </a:t>
            </a:r>
          </a:p>
          <a:p>
            <a:pPr lvl="1"/>
            <a:endParaRPr lang="ru-RU" dirty="0"/>
          </a:p>
          <a:p>
            <a:r>
              <a:rPr lang="ru-RU" dirty="0"/>
              <a:t>Данные: «Насыщенное описание» (дневники наблюдений)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BC4202-7DC7-4A98-BAA2-F74EF4FD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30616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Опросы</a:t>
            </a:r>
            <a:endParaRPr lang="be-BY" dirty="0">
              <a:solidFill>
                <a:srgbClr val="FF0000"/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1595336"/>
            <a:ext cx="10515600" cy="458162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НЕ опросы общественного мнения (</a:t>
            </a:r>
            <a:r>
              <a:rPr lang="en-US" dirty="0"/>
              <a:t>polls, </a:t>
            </a:r>
            <a:r>
              <a:rPr lang="ru-RU" dirty="0"/>
              <a:t>не совсем социология)</a:t>
            </a:r>
          </a:p>
          <a:p>
            <a:r>
              <a:rPr lang="ru-RU" dirty="0"/>
              <a:t>Использование анкет</a:t>
            </a:r>
            <a:endParaRPr lang="en-US" dirty="0"/>
          </a:p>
          <a:p>
            <a:r>
              <a:rPr lang="ru-RU" dirty="0"/>
              <a:t>Разные методы сборы данных:</a:t>
            </a:r>
          </a:p>
          <a:p>
            <a:pPr lvl="1"/>
            <a:r>
              <a:rPr lang="ru-RU" dirty="0"/>
              <a:t>Телефонные опросы</a:t>
            </a:r>
          </a:p>
          <a:p>
            <a:pPr lvl="1"/>
            <a:r>
              <a:rPr lang="ru-RU" dirty="0" err="1"/>
              <a:t>Самозаполнение</a:t>
            </a:r>
            <a:endParaRPr lang="ru-RU" dirty="0"/>
          </a:p>
          <a:p>
            <a:pPr lvl="1"/>
            <a:r>
              <a:rPr lang="ru-RU" dirty="0"/>
              <a:t>Поквартирный опрос</a:t>
            </a:r>
          </a:p>
          <a:p>
            <a:pPr lvl="1"/>
            <a:r>
              <a:rPr lang="en-US" dirty="0"/>
              <a:t>Face-to-face interview</a:t>
            </a:r>
            <a:endParaRPr lang="ru-RU" dirty="0"/>
          </a:p>
          <a:p>
            <a:r>
              <a:rPr lang="ru-RU" dirty="0"/>
              <a:t>Важность </a:t>
            </a:r>
            <a:r>
              <a:rPr lang="ru-RU" dirty="0" err="1"/>
              <a:t>вординга</a:t>
            </a:r>
            <a:r>
              <a:rPr lang="ru-RU" dirty="0"/>
              <a:t> (формулировки вопросов)</a:t>
            </a:r>
          </a:p>
          <a:p>
            <a:r>
              <a:rPr lang="ru-RU" dirty="0"/>
              <a:t>Человек не всегда делает то, о чём говорит (фальсификация опросных предпочтений)</a:t>
            </a:r>
          </a:p>
          <a:p>
            <a:r>
              <a:rPr lang="ru-RU" dirty="0"/>
              <a:t>Данные: «плоские таблицы»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914400" lvl="2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1FF7C8-C9D1-4ABA-9529-CB4E09E3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61752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13439-7974-40DC-A76A-B2D38E2D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Административные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4FDD9-13EC-4A09-964E-7EA037A0C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Данные, которые собираются (около)государственными органами изначально не для исследований:</a:t>
            </a:r>
          </a:p>
          <a:p>
            <a:pPr lvl="1"/>
            <a:r>
              <a:rPr lang="ru-RU" dirty="0"/>
              <a:t>Переписные листы переписи населения</a:t>
            </a:r>
          </a:p>
          <a:p>
            <a:pPr lvl="1"/>
            <a:r>
              <a:rPr lang="ru-RU" dirty="0"/>
              <a:t>Медицинские карты пациентов</a:t>
            </a:r>
          </a:p>
          <a:p>
            <a:pPr lvl="1"/>
            <a:r>
              <a:rPr lang="ru-RU" dirty="0"/>
              <a:t>Статистические карточки в правоохранительных органах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BDEBEC-9426-4778-8DFE-27F3BD5D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9235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-6970"/>
            <a:ext cx="11430000" cy="68649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26C3BF8-54D6-4918-AB29-AF118B7F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03652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Расколдовывание</a:t>
            </a:r>
            <a:r>
              <a:rPr lang="ru-RU" dirty="0"/>
              <a:t>»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Недостоверность данных:</a:t>
            </a:r>
          </a:p>
          <a:p>
            <a:pPr lvl="1"/>
            <a:r>
              <a:rPr lang="ru-RU" dirty="0"/>
              <a:t>Латентность (нераскрытые преступления)</a:t>
            </a:r>
          </a:p>
          <a:p>
            <a:pPr lvl="1"/>
            <a:r>
              <a:rPr lang="ru-RU" dirty="0"/>
              <a:t>Фильтрация и селекция (отбор простых преступлений)</a:t>
            </a:r>
          </a:p>
          <a:p>
            <a:pPr lvl="1"/>
            <a:r>
              <a:rPr lang="ru-RU" dirty="0"/>
              <a:t>Фальсификация (оставление пустых полей следователем)</a:t>
            </a:r>
          </a:p>
          <a:p>
            <a:pPr lvl="1"/>
            <a:endParaRPr lang="ru-RU" dirty="0"/>
          </a:p>
          <a:p>
            <a:pPr marL="457200" lvl="1" indent="0">
              <a:buNone/>
            </a:pPr>
            <a:r>
              <a:rPr lang="ru-RU" sz="2200" dirty="0"/>
              <a:t>(Подробнее: Криминальная статистика — через открытость к управляемости (Серия</a:t>
            </a:r>
            <a:r>
              <a:rPr lang="en-US" sz="2200" dirty="0"/>
              <a:t> </a:t>
            </a:r>
            <a:r>
              <a:rPr lang="ru-RU" sz="2200" dirty="0"/>
              <a:t>«Аналитические записки по проблемам </a:t>
            </a:r>
            <a:r>
              <a:rPr lang="ru-RU" sz="2200" dirty="0" err="1"/>
              <a:t>правоприменения</a:t>
            </a:r>
            <a:r>
              <a:rPr lang="ru-RU" sz="2200" dirty="0"/>
              <a:t>», март 2015) . Авторы: </a:t>
            </a:r>
            <a:r>
              <a:rPr lang="ru-RU" sz="2200" dirty="0" err="1"/>
              <a:t>Шклярук</a:t>
            </a:r>
            <a:r>
              <a:rPr lang="ru-RU" sz="2200" dirty="0"/>
              <a:t> М .С ., </a:t>
            </a:r>
            <a:r>
              <a:rPr lang="ru-RU" sz="2200" dirty="0" err="1"/>
              <a:t>Скугаревский</a:t>
            </a:r>
            <a:r>
              <a:rPr lang="ru-RU" sz="2200" dirty="0"/>
              <a:t> Д .С ., </a:t>
            </a:r>
            <a:r>
              <a:rPr lang="ru-RU" sz="2200" dirty="0" err="1"/>
              <a:t>Бегтин</a:t>
            </a:r>
            <a:r>
              <a:rPr lang="ru-RU" sz="2200" dirty="0"/>
              <a:t> И .В ., Скифский И .С . СПб: ИПП ЕУ СПб, 2015 . — 24 стр. </a:t>
            </a:r>
            <a:r>
              <a:rPr lang="en-US" sz="2200" dirty="0"/>
              <a:t>URL: </a:t>
            </a:r>
            <a:r>
              <a:rPr lang="en-US" sz="2200" dirty="0">
                <a:hlinkClick r:id="rId2"/>
              </a:rPr>
              <a:t>http://enforce.spb.ru/images/foto/Crimestat_memo_2015_IRL_KGI_color.pdf</a:t>
            </a:r>
            <a:r>
              <a:rPr lang="ru-RU" sz="2200" dirty="0"/>
              <a:t> )</a:t>
            </a:r>
            <a:endParaRPr lang="en-US" sz="2200" dirty="0"/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836550-6688-4F66-B5FD-558F0E47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6695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699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Данные ИПП об арбитражных делах</a:t>
            </a:r>
            <a:br>
              <a:rPr lang="ru-RU" dirty="0"/>
            </a:br>
            <a:r>
              <a:rPr lang="en-US" sz="2800" dirty="0"/>
              <a:t>https://dataverse.harvard.edu/dataverse.xhtml?alias=irl_data</a:t>
            </a:r>
            <a:endParaRPr lang="ru-RU" sz="28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39281"/>
            <a:ext cx="12323928" cy="5618719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F29F1D-1927-4068-82DA-9E7FE1BC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59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4291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apk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" b="5609"/>
          <a:stretch>
            <a:fillRect/>
          </a:stretch>
        </p:blipFill>
        <p:spPr bwMode="auto">
          <a:xfrm>
            <a:off x="1096583" y="300251"/>
            <a:ext cx="9756250" cy="655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E7CB12-CCE8-4F2D-BB92-50461AB8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634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817" y="0"/>
            <a:ext cx="9572083" cy="6872582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F52B16-E93D-4AF6-A2FA-2E40504D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86283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724" y="201540"/>
            <a:ext cx="10653035" cy="665645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4086E2-740D-42E6-A7A2-E7AB6A733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4804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Закодированная таблица решений арбитражных судов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94" y="2273110"/>
            <a:ext cx="12125811" cy="4284639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3C853C-F173-4B7C-9FDF-8245593DA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933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967" y="0"/>
            <a:ext cx="9762412" cy="685650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F67020E-5623-4F7F-8B28-F42F0087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8946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13439-7974-40DC-A76A-B2D38E2D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Текст-как-данные (</a:t>
            </a:r>
            <a:r>
              <a:rPr lang="en-US" dirty="0">
                <a:solidFill>
                  <a:srgbClr val="FF0000"/>
                </a:solidFill>
              </a:rPr>
              <a:t>text-as-data)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14FDD9-13EC-4A09-964E-7EA037A0C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Количественное исследование массива текстов с помощью инструментов обработки естественного языка (</a:t>
            </a:r>
            <a:r>
              <a:rPr lang="en-US" dirty="0"/>
              <a:t>natural language processing)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F8C87D-F275-4276-9C45-34CC2FC4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038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1E39BEDA-AC2A-4DFA-8BBB-AE0BEC3EA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8843863" cy="671151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FEFCCA2-5919-4F0E-B699-335ADDFB6FA5}"/>
              </a:ext>
            </a:extLst>
          </p:cNvPr>
          <p:cNvSpPr/>
          <p:nvPr/>
        </p:nvSpPr>
        <p:spPr>
          <a:xfrm>
            <a:off x="6596109" y="146482"/>
            <a:ext cx="50602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458К текстов </a:t>
            </a:r>
          </a:p>
          <a:p>
            <a:r>
              <a:rPr lang="ru-RU" sz="2800" dirty="0"/>
              <a:t>нормативно-правовых актов </a:t>
            </a:r>
          </a:p>
          <a:p>
            <a:r>
              <a:rPr lang="ru-RU" sz="2800" dirty="0"/>
              <a:t>в России</a:t>
            </a:r>
          </a:p>
        </p:txBody>
      </p:sp>
    </p:spTree>
    <p:extLst>
      <p:ext uri="{BB962C8B-B14F-4D97-AF65-F5344CB8AC3E}">
        <p14:creationId xmlns:p14="http://schemas.microsoft.com/office/powerpoint/2010/main" val="1461758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2F9DF56-0C38-47DB-A27C-AF4EFF04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051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Решение о выплате единовременного поощрения руководителю территориального органа </a:t>
            </a:r>
            <a:r>
              <a:rPr lang="ru-RU" dirty="0" err="1"/>
              <a:t>Росаккредитации</a:t>
            </a:r>
            <a:r>
              <a:rPr lang="ru-RU" dirty="0"/>
              <a:t> принимается Руководителем, заместителю Руководителя принимается Руководителем, решение о выплате единовременного поощрения руководителю структурного подразделения принимается Руководителем по представлению заместителя Руководителя, осуществляющего координацию деятельности структурного подразделения, решение о выплате единовременного поощрения другим гражданским служащим </a:t>
            </a:r>
            <a:r>
              <a:rPr lang="ru-RU" dirty="0" err="1"/>
              <a:t>Росаккредитации</a:t>
            </a:r>
            <a:r>
              <a:rPr lang="ru-RU" dirty="0"/>
              <a:t> принимается Руководителем по представлению руководителя структурного подразделения, согласованного с заместителем Руководителя, осуществляющим координацию деятельности структурного подразделения.</a:t>
            </a:r>
          </a:p>
          <a:p>
            <a:pPr marL="0" indent="0">
              <a:buNone/>
            </a:pPr>
            <a:r>
              <a:rPr lang="ru-RU" dirty="0"/>
              <a:t>(из Приказа Федеральной службы по аккредитации от 05.02.2018).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09C631-E2B6-4CEE-8D98-2F8A8A86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61042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9FB9B24-530E-400B-9D84-36DE8C59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dirty="0"/>
              <a:t>Один из приёмов – </a:t>
            </a:r>
            <a:br>
              <a:rPr lang="ru-RU" sz="3600" dirty="0"/>
            </a:br>
            <a:r>
              <a:rPr lang="ru-RU" sz="3600" dirty="0"/>
              <a:t>проанализировать лексическое разнообразие текстов: </a:t>
            </a:r>
            <a:br>
              <a:rPr lang="ru-RU" sz="3600" dirty="0"/>
            </a:br>
            <a:r>
              <a:rPr lang="ru-RU" sz="3600" dirty="0"/>
              <a:t>как много уникальных слов, которые не повторяются?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E08589-7A1C-499B-BFB9-DD090C0C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83574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2F9DF56-0C38-47DB-A27C-AF4EFF04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051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Решение о выплате единовременного поощрения руководителю территориального органа </a:t>
            </a:r>
            <a:r>
              <a:rPr lang="ru-RU" dirty="0" err="1"/>
              <a:t>Росаккредитации</a:t>
            </a:r>
            <a:r>
              <a:rPr lang="ru-RU" dirty="0"/>
              <a:t> принимается Руководителем, заместителю Руководителя принимается Руководителем, решение о выплате единовременного поощрения руководителю структурного подразделения принимается Руководителем по представлению заместителя Руководителя, осуществляющего координацию деятельности структурного подразделения, решение о выплате единовременного поощрения другим гражданским служащим </a:t>
            </a:r>
            <a:r>
              <a:rPr lang="ru-RU" dirty="0" err="1"/>
              <a:t>Росаккредитации</a:t>
            </a:r>
            <a:r>
              <a:rPr lang="ru-RU" dirty="0"/>
              <a:t> принимается Руководителем по представлению руководителя структурного подразделения, согласованного с заместителем Руководителя, осуществляющим координацию деятельности структурного подразделения.</a:t>
            </a:r>
          </a:p>
          <a:p>
            <a:pPr marL="0" indent="0">
              <a:buNone/>
            </a:pPr>
            <a:r>
              <a:rPr lang="ru-RU" dirty="0"/>
              <a:t>(из Приказа Федеральной службы по аккредитации от 05.02.2018).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09C631-E2B6-4CEE-8D98-2F8A8A86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69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20813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EFF615C-43ED-4527-B276-2490D2331D2E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>
          <a:xfrm>
            <a:off x="838200" y="559837"/>
            <a:ext cx="10515600" cy="5617126"/>
          </a:xfrm>
          <a:prstGeom prst="rect">
            <a:avLst/>
          </a:prstGeom>
        </p:spPr>
        <p:txBody>
          <a:bodyPr vert="horz" lIns="91440" tIns="45720" rIns="13208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en-US" b="1" dirty="0">
                <a:solidFill>
                  <a:schemeClr val="accent4">
                    <a:lumMod val="75000"/>
                  </a:schemeClr>
                </a:solidFill>
              </a:rPr>
              <a:t>Решение о выплате единовременного поощрения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руководителю</a:t>
            </a:r>
            <a:r>
              <a:rPr lang="ru-RU" altLang="en-US" b="1" dirty="0"/>
              <a:t> территориального органа </a:t>
            </a:r>
            <a:r>
              <a:rPr lang="ru-RU" altLang="en-US" b="1" dirty="0" err="1">
                <a:solidFill>
                  <a:schemeClr val="accent3">
                    <a:lumMod val="75000"/>
                  </a:schemeClr>
                </a:solidFill>
              </a:rPr>
              <a:t>Росаккредитации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C00000"/>
                </a:solidFill>
              </a:rPr>
              <a:t>принимается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Руководителем</a:t>
            </a:r>
            <a:r>
              <a:rPr lang="ru-RU" altLang="en-US" b="1" dirty="0"/>
              <a:t>, </a:t>
            </a:r>
            <a:r>
              <a:rPr lang="ru-RU" altLang="en-US" b="1" dirty="0">
                <a:solidFill>
                  <a:schemeClr val="accent3">
                    <a:lumMod val="75000"/>
                  </a:schemeClr>
                </a:solidFill>
              </a:rPr>
              <a:t>заместителю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C00000"/>
                </a:solidFill>
              </a:rPr>
              <a:t>принимается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Руководителем</a:t>
            </a:r>
            <a:r>
              <a:rPr lang="ru-RU" altLang="en-US" b="1" dirty="0"/>
              <a:t>, </a:t>
            </a:r>
            <a:r>
              <a:rPr lang="ru-RU" altLang="en-US" b="1" dirty="0">
                <a:solidFill>
                  <a:schemeClr val="accent4">
                    <a:lumMod val="75000"/>
                  </a:schemeClr>
                </a:solidFill>
              </a:rPr>
              <a:t>решение о выплате единовременного поощрения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руководителю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1">
                    <a:lumMod val="75000"/>
                  </a:schemeClr>
                </a:solidFill>
              </a:rPr>
              <a:t>структурного подразделения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C00000"/>
                </a:solidFill>
              </a:rPr>
              <a:t>принимается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Руководителем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3">
                    <a:lumMod val="75000"/>
                  </a:schemeClr>
                </a:solidFill>
              </a:rPr>
              <a:t>по представлению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3">
                    <a:lumMod val="75000"/>
                  </a:schemeClr>
                </a:solidFill>
              </a:rPr>
              <a:t>заместителя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Руководителя</a:t>
            </a:r>
            <a:r>
              <a:rPr lang="ru-RU" altLang="en-US" b="1" dirty="0"/>
              <a:t>, </a:t>
            </a:r>
            <a:r>
              <a:rPr lang="ru-RU" altLang="en-US" b="1" dirty="0">
                <a:solidFill>
                  <a:schemeClr val="accent6">
                    <a:lumMod val="75000"/>
                  </a:schemeClr>
                </a:solidFill>
              </a:rPr>
              <a:t>осуществляющего координацию деятельности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1">
                    <a:lumMod val="75000"/>
                  </a:schemeClr>
                </a:solidFill>
              </a:rPr>
              <a:t>структурного подразделения</a:t>
            </a:r>
            <a:r>
              <a:rPr lang="ru-RU" altLang="en-US" b="1" dirty="0"/>
              <a:t>, </a:t>
            </a:r>
            <a:r>
              <a:rPr lang="ru-RU" altLang="en-US" b="1" dirty="0">
                <a:solidFill>
                  <a:schemeClr val="accent4">
                    <a:lumMod val="75000"/>
                  </a:schemeClr>
                </a:solidFill>
              </a:rPr>
              <a:t>решение о выплате единовременного поощрения </a:t>
            </a:r>
            <a:r>
              <a:rPr lang="ru-RU" altLang="en-US" b="1" dirty="0"/>
              <a:t>другим гражданским служащим </a:t>
            </a:r>
            <a:r>
              <a:rPr lang="ru-RU" altLang="en-US" b="1" dirty="0" err="1">
                <a:solidFill>
                  <a:schemeClr val="accent3">
                    <a:lumMod val="75000"/>
                  </a:schemeClr>
                </a:solidFill>
              </a:rPr>
              <a:t>Росаккредитации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C00000"/>
                </a:solidFill>
              </a:rPr>
              <a:t>принимается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Руководителем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3">
                    <a:lumMod val="75000"/>
                  </a:schemeClr>
                </a:solidFill>
              </a:rPr>
              <a:t>по представлению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C000"/>
                </a:solidFill>
              </a:rPr>
              <a:t>руководителя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1">
                    <a:lumMod val="75000"/>
                  </a:schemeClr>
                </a:solidFill>
              </a:rPr>
              <a:t>структурного подразделения</a:t>
            </a:r>
            <a:r>
              <a:rPr lang="ru-RU" altLang="en-US" b="1" dirty="0"/>
              <a:t>, согласованного с </a:t>
            </a:r>
            <a:r>
              <a:rPr lang="ru-RU" altLang="en-US" b="1" dirty="0">
                <a:solidFill>
                  <a:schemeClr val="accent3">
                    <a:lumMod val="75000"/>
                  </a:schemeClr>
                </a:solidFill>
              </a:rPr>
              <a:t>заместителем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rgbClr val="FF0000"/>
                </a:solidFill>
              </a:rPr>
              <a:t>Руководителя</a:t>
            </a:r>
            <a:r>
              <a:rPr lang="ru-RU" altLang="en-US" b="1" dirty="0"/>
              <a:t>, </a:t>
            </a:r>
            <a:r>
              <a:rPr lang="ru-RU" altLang="en-US" b="1" dirty="0">
                <a:solidFill>
                  <a:schemeClr val="accent6">
                    <a:lumMod val="75000"/>
                  </a:schemeClr>
                </a:solidFill>
              </a:rPr>
              <a:t>осуществляющим координацию деятельности</a:t>
            </a:r>
            <a:r>
              <a:rPr lang="ru-RU" altLang="en-US" b="1" dirty="0"/>
              <a:t> </a:t>
            </a:r>
            <a:r>
              <a:rPr lang="ru-RU" altLang="en-US" b="1" dirty="0">
                <a:solidFill>
                  <a:schemeClr val="accent1">
                    <a:lumMod val="75000"/>
                  </a:schemeClr>
                </a:solidFill>
              </a:rPr>
              <a:t>структурного подразделения</a:t>
            </a:r>
            <a:r>
              <a:rPr lang="ru-RU" altLang="en-US" b="1" dirty="0"/>
              <a:t>.</a:t>
            </a:r>
            <a:endParaRPr lang="en-US" altLang="en-US" b="1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FE34714-ACD9-46E6-9E8C-01589B19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339" y="6003131"/>
            <a:ext cx="3111322" cy="59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26C0D4-EB3D-4190-B40C-26E3C8C3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1085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559854" y="0"/>
            <a:ext cx="9072292" cy="507313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76F953-B4F0-46E3-824C-38D1D1DADE6F}"/>
              </a:ext>
            </a:extLst>
          </p:cNvPr>
          <p:cNvSpPr/>
          <p:nvPr/>
        </p:nvSpPr>
        <p:spPr>
          <a:xfrm>
            <a:off x="1559854" y="5355232"/>
            <a:ext cx="98312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Руслан </a:t>
            </a:r>
            <a:r>
              <a:rPr lang="ru-RU" dirty="0" err="1"/>
              <a:t>Кучаков</a:t>
            </a:r>
            <a:r>
              <a:rPr lang="ru-RU" dirty="0"/>
              <a:t>, Денис Савельев. Сложность правовых актов в России: Лексическое и синтаксическое качество текстов. </a:t>
            </a:r>
            <a:br>
              <a:rPr lang="ru-RU" dirty="0"/>
            </a:br>
            <a:r>
              <a:rPr lang="ru-RU" dirty="0"/>
              <a:t>Под редакцией Дмитрия </a:t>
            </a:r>
            <a:r>
              <a:rPr lang="ru-RU" dirty="0" err="1"/>
              <a:t>Скугаревского</a:t>
            </a:r>
            <a:r>
              <a:rPr lang="ru-RU" dirty="0"/>
              <a:t> (Серия «Аналитические записки по проблемам правоприменения»). СПб: ИПП ЕУСПб, 2018. — 20 с.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8C5FFF3-63C5-4D92-BBF1-997163FD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90185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ED92D00-0D08-426A-8831-3AE746CB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52"/>
            <a:ext cx="10515600" cy="6702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800" b="1" dirty="0"/>
              <a:t>«Стороны</a:t>
            </a:r>
            <a:r>
              <a:rPr lang="ru-RU" sz="1800" dirty="0"/>
              <a:t> иных регулируемых договоров и объемы электрической энергии и мощности по указанным договорам </a:t>
            </a:r>
            <a:r>
              <a:rPr lang="ru-RU" sz="1800" b="1" dirty="0"/>
              <a:t>определяются</a:t>
            </a:r>
            <a:r>
              <a:rPr lang="ru-RU" sz="1800" dirty="0"/>
              <a:t> таким образом, чтобы по совокупности всех иных регулируемых договоров , определенных для покупателя , </a:t>
            </a:r>
            <a:r>
              <a:rPr lang="ru-RU" sz="1800" dirty="0">
                <a:solidFill>
                  <a:srgbClr val="FF0000"/>
                </a:solidFill>
              </a:rPr>
              <a:t>функционирующего</a:t>
            </a:r>
            <a:r>
              <a:rPr lang="ru-RU" sz="1800" dirty="0"/>
              <a:t> в отдельных частях ценовых зон оптового рынка , и организации - участника оптового рынка , </a:t>
            </a:r>
            <a:r>
              <a:rPr lang="ru-RU" sz="1800" dirty="0">
                <a:solidFill>
                  <a:srgbClr val="FF0000"/>
                </a:solidFill>
              </a:rPr>
              <a:t>осуществляющего</a:t>
            </a:r>
            <a:r>
              <a:rPr lang="ru-RU" sz="1800" dirty="0"/>
              <a:t> экспортно-импортные операции в части покупки электрической энергии и мощности на территории Республики Северная Осетия - Алания , в соответствующем периоде регулирования с начала их исполнения суммарная стоимость объема электрической энергии и объема мощности , скорректированных с учетом положений абзаца четвертого настоящего пункта , не превышала сумму стоимости объема электрической энергии , определенного для покупки по регулируемым ценам ( тарифам ) для покупателя , </a:t>
            </a:r>
            <a:r>
              <a:rPr lang="ru-RU" sz="1800" dirty="0">
                <a:solidFill>
                  <a:srgbClr val="FF0000"/>
                </a:solidFill>
              </a:rPr>
              <a:t>функционирующего</a:t>
            </a:r>
            <a:r>
              <a:rPr lang="ru-RU" sz="1800" dirty="0"/>
              <a:t> в отдельных частях ценовых зон оптового рынка , сверх объема электрической энергии , поставляемого и оплачиваемого по регулируемым договорам для населения ( без учета дополнительного снижения долей , применяемых для определения этого объема , в случаях , указанных в разделе VI - 1 настоящих Правил ) , и для организации - участника оптового рынка , осуществляющего экспортно-импортные операции в части покупки электрической энергии и мощности на территории Республики Северная Осетия - Алания , рассчитанной совокупно за год по индикативной цене на электрическую энергию для покупателей , </a:t>
            </a:r>
            <a:r>
              <a:rPr lang="ru-RU" sz="1800" dirty="0">
                <a:solidFill>
                  <a:srgbClr val="FF0000"/>
                </a:solidFill>
              </a:rPr>
              <a:t>функционирующих</a:t>
            </a:r>
            <a:r>
              <a:rPr lang="ru-RU" sz="1800" dirty="0"/>
              <a:t> в отдельных частях ценовых зон оптового рынка , и стоимости объема мощности , определенного для покупки по регулируемым ценам ( тарифам ) для покупателя , </a:t>
            </a:r>
            <a:r>
              <a:rPr lang="ru-RU" sz="1800" dirty="0">
                <a:solidFill>
                  <a:srgbClr val="FF0000"/>
                </a:solidFill>
              </a:rPr>
              <a:t>функционирующего</a:t>
            </a:r>
            <a:r>
              <a:rPr lang="ru-RU" sz="1800" dirty="0"/>
              <a:t> в отдельных частях ценовых зон оптового рынка , сверх объема мощности , поставляемого и оплачиваемого по регулируемым договорам для населения ( без учета дополнительного снижения долей , применяемых для определения этого объема , в случаях , указанных в разделе VI - 1 настоящих Правил ) , и организации - участника оптового рынка , </a:t>
            </a:r>
            <a:r>
              <a:rPr lang="ru-RU" sz="1800" dirty="0">
                <a:solidFill>
                  <a:srgbClr val="FF0000"/>
                </a:solidFill>
              </a:rPr>
              <a:t>осуществляющего</a:t>
            </a:r>
            <a:r>
              <a:rPr lang="ru-RU" sz="1800" dirty="0"/>
              <a:t> экспортно-импортные операции в части покупки электрической энергии и мощности на территории Республики Северная Осетия - Алания , рассчитанной совокупно за год исходя из индикативной цены на мощность для покупателей , </a:t>
            </a:r>
            <a:r>
              <a:rPr lang="ru-RU" sz="1800" dirty="0">
                <a:solidFill>
                  <a:srgbClr val="FF0000"/>
                </a:solidFill>
              </a:rPr>
              <a:t>функционирующих</a:t>
            </a:r>
            <a:r>
              <a:rPr lang="ru-RU" sz="1800" dirty="0"/>
              <a:t> в отдельных частях ценовых зон оптового рынка , с учетом помесячного применения индикативных цен на электрическую энергию и мощность.»</a:t>
            </a:r>
          </a:p>
          <a:p>
            <a:pPr marL="0" indent="0">
              <a:buNone/>
            </a:pPr>
            <a:r>
              <a:rPr lang="ru-RU" sz="1800" b="1" dirty="0">
                <a:solidFill>
                  <a:srgbClr val="FF0000"/>
                </a:solidFill>
              </a:rPr>
              <a:t> 318 токенов в одном предложении.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62B8B1E-9B47-450B-BD74-3F2A2444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8042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Вторичные данные: всё, что собрано не вами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Чужие транскрипты, дневники наблюдений, базы данных опросов, государственная статистика…</a:t>
            </a:r>
          </a:p>
          <a:p>
            <a:r>
              <a:rPr lang="en-US" dirty="0"/>
              <a:t>RLMS / </a:t>
            </a:r>
            <a:r>
              <a:rPr lang="ru-RU" dirty="0"/>
              <a:t>РМЭЗ (Российский мониторинг экономического положения и здоровья населения)</a:t>
            </a:r>
          </a:p>
          <a:p>
            <a:pPr marL="685800" lvl="2">
              <a:spcBef>
                <a:spcPts val="1000"/>
              </a:spcBef>
            </a:pPr>
            <a:r>
              <a:rPr lang="ru-RU" dirty="0"/>
              <a:t>Панельный репрезентативный опрос населения России с огромным количеством вопросов/переменных</a:t>
            </a:r>
            <a:endParaRPr lang="en-US" dirty="0"/>
          </a:p>
          <a:p>
            <a:r>
              <a:rPr lang="ru-RU" dirty="0"/>
              <a:t>Данные государственной статистики</a:t>
            </a:r>
          </a:p>
          <a:p>
            <a:pPr lvl="1"/>
            <a:r>
              <a:rPr lang="ru-RU" dirty="0"/>
              <a:t>Росстат (напр., данные переписи)</a:t>
            </a:r>
          </a:p>
          <a:p>
            <a:pPr lvl="1"/>
            <a:r>
              <a:rPr lang="ru-RU" dirty="0"/>
              <a:t>Судебные решения, полицейские протоколы, …</a:t>
            </a:r>
          </a:p>
          <a:p>
            <a:pPr lvl="1"/>
            <a:r>
              <a:rPr lang="ru-RU" dirty="0"/>
              <a:t>База данных муниципальных образований (БДМО)</a:t>
            </a:r>
          </a:p>
          <a:p>
            <a:pPr marL="457200" lvl="1" indent="0">
              <a:buNone/>
            </a:pP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E54751-F861-448F-8D5C-7F12C2E2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55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ru-RU" dirty="0"/>
              <a:t>Репрезентативность данных </a:t>
            </a:r>
            <a:endParaRPr lang="be-BY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1825625"/>
            <a:ext cx="10776626" cy="4614086"/>
          </a:xfrm>
        </p:spPr>
        <p:txBody>
          <a:bodyPr>
            <a:normAutofit/>
          </a:bodyPr>
          <a:lstStyle/>
          <a:p>
            <a:r>
              <a:rPr lang="ru-RU" sz="3200" dirty="0"/>
              <a:t>Возможность обобщить результаты части изучаемых явлений </a:t>
            </a:r>
            <a:r>
              <a:rPr lang="ru-RU" sz="3200" dirty="0">
                <a:solidFill>
                  <a:srgbClr val="FF0000"/>
                </a:solidFill>
              </a:rPr>
              <a:t>(выборка) </a:t>
            </a:r>
            <a:r>
              <a:rPr lang="ru-RU" sz="3200" dirty="0"/>
              <a:t>на все явления такого типа </a:t>
            </a:r>
            <a:r>
              <a:rPr lang="ru-RU" sz="3200" dirty="0">
                <a:solidFill>
                  <a:srgbClr val="FF0000"/>
                </a:solidFill>
              </a:rPr>
              <a:t>(генеральная совокупность)</a:t>
            </a:r>
          </a:p>
          <a:p>
            <a:r>
              <a:rPr lang="ru-RU" sz="3200" dirty="0"/>
              <a:t>Проблема: наблюдений много, а бюджет маленький</a:t>
            </a:r>
          </a:p>
          <a:p>
            <a:r>
              <a:rPr lang="ru-RU" sz="3200" dirty="0"/>
              <a:t>Генеральная совокупность</a:t>
            </a:r>
          </a:p>
          <a:p>
            <a:pPr marL="685800" lvl="2">
              <a:spcBef>
                <a:spcPts val="1000"/>
              </a:spcBef>
            </a:pPr>
            <a:r>
              <a:rPr lang="ru-RU" b="1" dirty="0"/>
              <a:t>Можно изучить только часть, но результаты обобщить</a:t>
            </a:r>
            <a:r>
              <a:rPr lang="en-US" b="1" dirty="0"/>
              <a:t> </a:t>
            </a:r>
            <a:r>
              <a:rPr lang="ru-RU" b="1" dirty="0"/>
              <a:t>на всех?</a:t>
            </a:r>
            <a:endParaRPr lang="ru-RU" sz="3200" b="1" dirty="0"/>
          </a:p>
          <a:p>
            <a:r>
              <a:rPr lang="ru-RU" sz="3200" dirty="0"/>
              <a:t>Репрезентативность нужно доказать!</a:t>
            </a:r>
          </a:p>
          <a:p>
            <a:pPr lvl="1"/>
            <a:r>
              <a:rPr lang="ru-RU" dirty="0"/>
              <a:t>Пример: интернет-опросы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045E6A-22CB-4DBC-8288-F5901548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81093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C4450-24B2-460E-8D74-22853D49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Russian Crime Victimization Survey 2018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7CEDF7-2990-45D3-96E7-29ED5E7C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2018 году провели первый в России репрезентативный </a:t>
            </a:r>
            <a:r>
              <a:rPr lang="ru-RU" dirty="0" err="1"/>
              <a:t>виктимизационный</a:t>
            </a:r>
            <a:r>
              <a:rPr lang="ru-RU" dirty="0"/>
              <a:t> опрос</a:t>
            </a:r>
          </a:p>
          <a:p>
            <a:endParaRPr lang="en-US" dirty="0"/>
          </a:p>
          <a:p>
            <a:r>
              <a:rPr lang="en-US" dirty="0"/>
              <a:t>CATI, </a:t>
            </a:r>
            <a:r>
              <a:rPr lang="ru-RU" dirty="0"/>
              <a:t>16К человек, из них 3К жертв</a:t>
            </a:r>
          </a:p>
          <a:p>
            <a:endParaRPr lang="ru-RU" dirty="0"/>
          </a:p>
          <a:p>
            <a:r>
              <a:rPr lang="ru-RU" dirty="0"/>
              <a:t>Данные в открытом доступе</a:t>
            </a:r>
          </a:p>
        </p:txBody>
      </p:sp>
    </p:spTree>
    <p:extLst>
      <p:ext uri="{BB962C8B-B14F-4D97-AF65-F5344CB8AC3E}">
        <p14:creationId xmlns:p14="http://schemas.microsoft.com/office/powerpoint/2010/main" val="7335640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6344C35D-A18A-4751-A77F-40CD66D9E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80" y="136525"/>
            <a:ext cx="10815439" cy="480392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FAB232-87FF-4DCB-92E3-C873B97D996C}"/>
              </a:ext>
            </a:extLst>
          </p:cNvPr>
          <p:cNvSpPr/>
          <p:nvPr/>
        </p:nvSpPr>
        <p:spPr>
          <a:xfrm>
            <a:off x="1226250" y="5156021"/>
            <a:ext cx="97394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Преступность и </a:t>
            </a:r>
            <a:r>
              <a:rPr lang="ru-RU" dirty="0" err="1"/>
              <a:t>виктимизация</a:t>
            </a:r>
            <a:r>
              <a:rPr lang="ru-RU" dirty="0"/>
              <a:t> в России. Результаты всероссийского </a:t>
            </a:r>
            <a:r>
              <a:rPr lang="ru-RU" dirty="0" err="1"/>
              <a:t>виктимизационного</a:t>
            </a:r>
            <a:r>
              <a:rPr lang="ru-RU" dirty="0"/>
              <a:t> опроса (Аналитический обзор). Алексей </a:t>
            </a:r>
            <a:r>
              <a:rPr lang="ru-RU" dirty="0" err="1"/>
              <a:t>Кнорре</a:t>
            </a:r>
            <a:r>
              <a:rPr lang="ru-RU" dirty="0"/>
              <a:t>, Кирилл Титаев. СПб: ИПП ЕУ СПб, 2018. — 36 стр.</a:t>
            </a:r>
            <a:endParaRPr lang="en-US" dirty="0"/>
          </a:p>
          <a:p>
            <a:r>
              <a:rPr lang="ru-RU" dirty="0"/>
              <a:t>Данные в открытом доступе: </a:t>
            </a:r>
            <a:r>
              <a:rPr lang="en-US" dirty="0">
                <a:hlinkClick r:id="rId3"/>
              </a:rPr>
              <a:t>https://dataverse.harvard.edu/dataset.xhtml?persistentId=doi:10.7910/DVN/C2OTH9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525276E-A7DE-4C36-B705-B101401F9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2829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7517B-FD85-48F5-9AE3-67700798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Задачки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C84696-FB86-461A-B322-F294A35A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087"/>
            <a:ext cx="10515600" cy="488487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Придумайте, какие данные нужны (где их взять, собрать или создать? как их использовать? как они позволяют ответить на вопрос?), чтобы получить убедительный ответ на вопрос ниже.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1. Сколько людей в стране употребляет наркотики?</a:t>
            </a:r>
          </a:p>
          <a:p>
            <a:pPr marL="0" indent="0">
              <a:buNone/>
            </a:pPr>
            <a:r>
              <a:rPr lang="ru-RU" dirty="0"/>
              <a:t>2. Что влияет на сокращение смертности от сердечно-сосудистых заболеваний?</a:t>
            </a:r>
          </a:p>
          <a:p>
            <a:pPr marL="0" indent="0">
              <a:buNone/>
            </a:pPr>
            <a:r>
              <a:rPr lang="ru-RU" dirty="0"/>
              <a:t>3. Насколько распространена коррупция в высшем образовании в России?</a:t>
            </a:r>
          </a:p>
          <a:p>
            <a:pPr marL="0" indent="0">
              <a:buNone/>
            </a:pPr>
            <a:r>
              <a:rPr lang="ru-RU" dirty="0"/>
              <a:t>4. Почему в России в сельской местности убивают больше, чем в городах?</a:t>
            </a:r>
          </a:p>
          <a:p>
            <a:pPr marL="0" indent="0">
              <a:buNone/>
            </a:pPr>
            <a:r>
              <a:rPr lang="ru-RU" dirty="0"/>
              <a:t>5. Что определяет аварийность дорог в России?</a:t>
            </a:r>
          </a:p>
          <a:p>
            <a:pPr marL="0" indent="0">
              <a:buNone/>
            </a:pPr>
            <a:r>
              <a:rPr lang="ru-RU" dirty="0"/>
              <a:t>6. Насколько хорошо работает скорая помощь в стране?</a:t>
            </a:r>
          </a:p>
          <a:p>
            <a:pPr marL="0" indent="0">
              <a:buNone/>
            </a:pPr>
            <a:r>
              <a:rPr lang="ru-RU" dirty="0"/>
              <a:t>7. Сколько православных в России?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8057F4-508D-47AA-A338-E57B5DAD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0061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19432"/>
            <a:ext cx="9144000" cy="1587055"/>
          </a:xfrm>
        </p:spPr>
        <p:txBody>
          <a:bodyPr>
            <a:normAutofit/>
          </a:bodyPr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472952"/>
            <a:ext cx="9144000" cy="1357478"/>
          </a:xfrm>
        </p:spPr>
        <p:txBody>
          <a:bodyPr>
            <a:normAutofit/>
          </a:bodyPr>
          <a:lstStyle/>
          <a:p>
            <a:r>
              <a:rPr lang="ru-RU" sz="3600" dirty="0"/>
              <a:t>Алексей </a:t>
            </a:r>
            <a:r>
              <a:rPr lang="ru-RU" sz="3600" dirty="0" err="1"/>
              <a:t>Кнорре</a:t>
            </a:r>
            <a:endParaRPr lang="ru-RU" sz="3600" dirty="0"/>
          </a:p>
          <a:p>
            <a:r>
              <a:rPr lang="ru-RU" sz="3600" dirty="0"/>
              <a:t>13 июля 2019</a:t>
            </a:r>
          </a:p>
        </p:txBody>
      </p:sp>
      <p:pic>
        <p:nvPicPr>
          <p:cNvPr id="4" name="Picture 4" descr="logo_r">
            <a:extLst>
              <a:ext uri="{FF2B5EF4-FFF2-40B4-BE49-F238E27FC236}">
                <a16:creationId xmlns:a16="http://schemas.microsoft.com/office/drawing/2014/main" id="{71255108-BE26-41E8-B527-97350F9D2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82"/>
            <a:ext cx="2892182" cy="87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D7B96F3-2864-40E5-8382-793357974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989" y="13482"/>
            <a:ext cx="3416011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A63346-48A0-414C-8E80-AACD0CA3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8019-6BD2-4BE8-9FEE-C8EBA7F76667}" type="slidenum">
              <a:rPr lang="ru-RU" smtClean="0"/>
              <a:t>78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76A874-EEB7-419C-A56F-7FCF824043FA}"/>
              </a:ext>
            </a:extLst>
          </p:cNvPr>
          <p:cNvSpPr/>
          <p:nvPr/>
        </p:nvSpPr>
        <p:spPr>
          <a:xfrm>
            <a:off x="0" y="3089885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0070C0"/>
                </a:solidFill>
              </a:rPr>
              <a:t>www.alexeyknorre.ru/other/13-07-2019.pdf</a:t>
            </a:r>
            <a:endParaRPr lang="ru-RU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827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2975</Words>
  <Application>Microsoft Office PowerPoint</Application>
  <PresentationFormat>Широкоэкранный</PresentationFormat>
  <Paragraphs>487</Paragraphs>
  <Slides>78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78</vt:i4>
      </vt:variant>
    </vt:vector>
  </HeadingPairs>
  <TitlesOfParts>
    <vt:vector size="82" baseType="lpstr">
      <vt:lpstr>Arial</vt:lpstr>
      <vt:lpstr>Calibri</vt:lpstr>
      <vt:lpstr>Calibri Light</vt:lpstr>
      <vt:lpstr>Тема Office</vt:lpstr>
      <vt:lpstr>Источники данных  для исследований</vt:lpstr>
      <vt:lpstr>Презентация PowerPoint</vt:lpstr>
      <vt:lpstr>Презентация PowerPoint</vt:lpstr>
      <vt:lpstr>Презентация PowerPoint</vt:lpstr>
      <vt:lpstr>Презентация PowerPoint</vt:lpstr>
      <vt:lpstr>Структура</vt:lpstr>
      <vt:lpstr>1. Зачем нужны данные?</vt:lpstr>
      <vt:lpstr>Эмпирическое vs. нормативное исследование</vt:lpstr>
      <vt:lpstr>Вопросы эмпирического исследования</vt:lpstr>
      <vt:lpstr>Откуда берутся вопросы и гипотезы</vt:lpstr>
      <vt:lpstr>Гипотезы vs. вопросы </vt:lpstr>
      <vt:lpstr>Качественные vs. количественные методы</vt:lpstr>
      <vt:lpstr>Большие исследования обычно комплексные</vt:lpstr>
      <vt:lpstr>2. Что делать с данными? (или Начальные приёмы рукопашной борьбы с данными)</vt:lpstr>
      <vt:lpstr>Презентация PowerPoint</vt:lpstr>
      <vt:lpstr>Данные и программы для анализа</vt:lpstr>
      <vt:lpstr>Презентация PowerPoint</vt:lpstr>
      <vt:lpstr>Презентация PowerPoint</vt:lpstr>
      <vt:lpstr>Пример грязных данных</vt:lpstr>
      <vt:lpstr>Презентация PowerPoint</vt:lpstr>
      <vt:lpstr>Презентация PowerPoint</vt:lpstr>
      <vt:lpstr>Презентация PowerPoint</vt:lpstr>
      <vt:lpstr>2. Описательные статистики: среднее и медиана</vt:lpstr>
      <vt:lpstr>Случай «копеечных дел»</vt:lpstr>
      <vt:lpstr>Презентация PowerPoint</vt:lpstr>
      <vt:lpstr>В 2013-2014 годах ФСКН и МВД изымали в среднем одинаковые партии наркотиков по массе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рассеяния</vt:lpstr>
      <vt:lpstr>Гистограмма</vt:lpstr>
      <vt:lpstr>Презентация PowerPoint</vt:lpstr>
      <vt:lpstr>Столбиковая диаграмма</vt:lpstr>
      <vt:lpstr>Презентация PowerPoint</vt:lpstr>
      <vt:lpstr>Презентация PowerPoint</vt:lpstr>
      <vt:lpstr>Где узнать больше?</vt:lpstr>
      <vt:lpstr>3. Какие бывают данные?</vt:lpstr>
      <vt:lpstr>Источники данных</vt:lpstr>
      <vt:lpstr>Интервью</vt:lpstr>
      <vt:lpstr>Пример транскрипта интервью с судьёй</vt:lpstr>
      <vt:lpstr>Наблюдение</vt:lpstr>
      <vt:lpstr>Опросы</vt:lpstr>
      <vt:lpstr>Административные данные</vt:lpstr>
      <vt:lpstr>Презентация PowerPoint</vt:lpstr>
      <vt:lpstr>«Расколдовывание» данных</vt:lpstr>
      <vt:lpstr>Данные ИПП об арбитражных делах https://dataverse.harvard.edu/dataverse.xhtml?alias=irl_data</vt:lpstr>
      <vt:lpstr>Презентация PowerPoint</vt:lpstr>
      <vt:lpstr>Презентация PowerPoint</vt:lpstr>
      <vt:lpstr>Презентация PowerPoint</vt:lpstr>
      <vt:lpstr>Закодированная таблица решений арбитражных судов</vt:lpstr>
      <vt:lpstr>Презентация PowerPoint</vt:lpstr>
      <vt:lpstr>Текст-как-данные (text-as-data)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Вторичные данные: всё, что собрано не вами</vt:lpstr>
      <vt:lpstr>Репрезентативность данных </vt:lpstr>
      <vt:lpstr>Russian Crime Victimization Survey 2018</vt:lpstr>
      <vt:lpstr>Презентация PowerPoint</vt:lpstr>
      <vt:lpstr>Задачки</vt:lpstr>
      <vt:lpstr>Спасибо!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Источники данных для эмпирического исследоваия</dc:title>
  <dc:creator>Alexey Knorre</dc:creator>
  <cp:lastModifiedBy>Alexey</cp:lastModifiedBy>
  <cp:revision>62</cp:revision>
  <dcterms:created xsi:type="dcterms:W3CDTF">2016-09-14T08:29:58Z</dcterms:created>
  <dcterms:modified xsi:type="dcterms:W3CDTF">2019-07-12T21:39:24Z</dcterms:modified>
</cp:coreProperties>
</file>